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נבנה אוטומטית בענן (model)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2011680" y="0"/>
            <a:ext cx="237744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>
            <a:off x="6949440" y="0"/>
            <a:ext cx="201168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arallelogram 4"/>
          <p:cNvSpPr/>
          <p:nvPr/>
        </p:nvSpPr>
        <p:spPr>
          <a:xfrm>
            <a:off x="9692640" y="0"/>
            <a:ext cx="1280160" cy="6858000"/>
          </a:xfrm>
          <a:prstGeom prst="parallelogram">
            <a:avLst/>
          </a:prstGeom>
          <a:solidFill>
            <a:srgbClr val="FFFFF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6574" y="1024128"/>
            <a:ext cx="3118545" cy="5449824"/>
          </a:xfrm>
          <a:prstGeom prst="rect">
            <a:avLst/>
          </a:prstGeom>
        </p:spPr>
      </p:pic>
      <p:sp>
        <p:nvSpPr>
          <p:cNvPr id="7" name="Snip Single Corner Rectangle 6"/>
          <p:cNvSpPr/>
          <p:nvPr/>
        </p:nvSpPr>
        <p:spPr>
          <a:xfrm rot="10800000">
            <a:off x="411480" y="128016"/>
            <a:ext cx="11368735" cy="768096"/>
          </a:xfrm>
          <a:prstGeom prst="snip1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2428" y="210312"/>
            <a:ext cx="726618" cy="60350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19724" y="164592"/>
            <a:ext cx="5486400" cy="694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 rtl="1">
              <a:lnSpc>
                <a:spcPct val="90000"/>
              </a:lnSpc>
            </a:pPr>
            <a:r>
              <a:rPr sz="28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תמונת מצב מבצעית</a:t>
            </a:r>
          </a:p>
          <a:p>
            <a:pPr algn="r" rtl="1">
              <a:spcBef>
                <a:spcPts val="100"/>
              </a:spcBef>
            </a:pPr>
            <a:r>
              <a:rPr sz="13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סוכן אוסינט · ענף מבצעים חמ״ץ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"/>
            <a:ext cx="42062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rtl="1"/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22 באוקטובר 2026</a:t>
            </a:r>
            <a:r>
              <a:rPr sz="2000" b="1">
                <a:solidFill>
                  <a:srgbClr val="C41E3A"/>
                </a:solidFill>
                <a:latin typeface="Calibri"/>
                <a:ea typeface="Calibri"/>
                <a:cs typeface="Aduma"/>
              </a:rPr>
              <a:t>  |  </a:t>
            </a:r>
            <a:r>
              <a:rPr sz="2000" b="1">
                <a:solidFill>
                  <a:srgbClr val="1C2A3D"/>
                </a:solidFill>
                <a:latin typeface="Calibri"/>
                <a:ea typeface="Calibri"/>
                <a:cs typeface="Aduma"/>
              </a:rPr>
              <a:t>06:49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2179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DTG 220649OCT26   ·   WGS84 / GEOGRAPHIC</a:t>
            </a:r>
          </a:p>
        </p:txBody>
      </p:sp>
      <p:sp>
        <p:nvSpPr>
          <p:cNvPr id="12" name="Snip Single Corner Rectangle 11"/>
          <p:cNvSpPr/>
          <p:nvPr/>
        </p:nvSpPr>
        <p:spPr>
          <a:xfrm>
            <a:off x="8028431" y="1024128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37575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Parallelogram 13"/>
          <p:cNvSpPr/>
          <p:nvPr/>
        </p:nvSpPr>
        <p:spPr>
          <a:xfrm>
            <a:off x="9153144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28431" y="1024128"/>
            <a:ext cx="3566159" cy="50292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37575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home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39" y="1156716"/>
            <a:ext cx="512064" cy="512064"/>
          </a:xfrm>
          <a:prstGeom prst="rect">
            <a:avLst/>
          </a:prstGeom>
        </p:spPr>
      </p:pic>
      <p:sp>
        <p:nvSpPr>
          <p:cNvPr id="18" name="Parallelogram 17"/>
          <p:cNvSpPr/>
          <p:nvPr/>
        </p:nvSpPr>
        <p:spPr>
          <a:xfrm>
            <a:off x="8229600" y="1165860"/>
            <a:ext cx="566928" cy="228600"/>
          </a:xfrm>
          <a:prstGeom prst="parallelogram">
            <a:avLst>
              <a:gd name="adj" fmla="val 25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חם</a:t>
            </a:r>
          </a:p>
        </p:txBody>
      </p:sp>
      <p:pic>
        <p:nvPicPr>
          <p:cNvPr id="19" name="Picture 18" descr="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467612"/>
            <a:ext cx="310896" cy="2286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0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7" y="1115568"/>
            <a:ext cx="2084831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R A N  ·  I R A Q  ·  Y E M E 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87967" y="1252728"/>
            <a:ext cx="2084831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איראן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7967" y="1572768"/>
            <a:ext cx="2084831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העורף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33372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ארצות הברית מצמצמת נוכחות מול איום איראני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8102E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ארצות הברית הורתה לעובדים לא חיוניים לעזוב את סעודיה בגלל איומי איראן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8102E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צבא ארצות הברית מצמצם כוחות בבסיסים במזרח התיכון בגלל איומי איראן</a:t>
            </a:r>
          </a:p>
        </p:txBody>
      </p:sp>
      <p:sp>
        <p:nvSpPr>
          <p:cNvPr id="25" name="Snip Single Corner Rectangle 24"/>
          <p:cNvSpPr/>
          <p:nvPr/>
        </p:nvSpPr>
        <p:spPr>
          <a:xfrm>
            <a:off x="8028431" y="2886760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37575" y="2937052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153144" y="2937052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2886760"/>
            <a:ext cx="3566159" cy="50292"/>
          </a:xfrm>
          <a:prstGeom prst="rect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37575" y="3613708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nor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39" y="3019348"/>
            <a:ext cx="512064" cy="512064"/>
          </a:xfrm>
          <a:prstGeom prst="rect">
            <a:avLst/>
          </a:prstGeom>
        </p:spPr>
      </p:pic>
      <p:sp>
        <p:nvSpPr>
          <p:cNvPr id="31" name="Parallelogram 30"/>
          <p:cNvSpPr/>
          <p:nvPr/>
        </p:nvSpPr>
        <p:spPr>
          <a:xfrm>
            <a:off x="8229600" y="3028492"/>
            <a:ext cx="731520" cy="228600"/>
          </a:xfrm>
          <a:prstGeom prst="parallelogram">
            <a:avLst>
              <a:gd name="adj" fmla="val 25000"/>
            </a:avLst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מעקב</a:t>
            </a:r>
          </a:p>
        </p:txBody>
      </p:sp>
      <p:pic>
        <p:nvPicPr>
          <p:cNvPr id="32" name="Picture 31" descr="s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3330244"/>
            <a:ext cx="310896" cy="228600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29600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6216" y="3330244"/>
            <a:ext cx="310896" cy="2286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8586216" y="3330244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0" y="2978200"/>
            <a:ext cx="1920239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L E B A N O N  ·  S Y R I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3115360"/>
            <a:ext cx="1920239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צפון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435400"/>
            <a:ext cx="1920239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צפון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96004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אין דיווחים חדשים מהגזרה בסקירה זו</a:t>
            </a:r>
          </a:p>
        </p:txBody>
      </p:sp>
      <p:sp>
        <p:nvSpPr>
          <p:cNvPr id="40" name="Snip Single Corner Rectangle 39"/>
          <p:cNvSpPr/>
          <p:nvPr/>
        </p:nvSpPr>
        <p:spPr>
          <a:xfrm>
            <a:off x="8028431" y="4749393"/>
            <a:ext cx="3749039" cy="1725472"/>
          </a:xfrm>
          <a:prstGeom prst="snip1Rect">
            <a:avLst>
              <a:gd name="adj" fmla="val 10598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37575" y="4799685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153144" y="4799685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28431" y="4749393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37575" y="5476341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entr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39" y="4881981"/>
            <a:ext cx="512064" cy="512064"/>
          </a:xfrm>
          <a:prstGeom prst="rect">
            <a:avLst/>
          </a:prstGeom>
        </p:spPr>
      </p:pic>
      <p:sp>
        <p:nvSpPr>
          <p:cNvPr id="46" name="Parallelogram 45"/>
          <p:cNvSpPr/>
          <p:nvPr/>
        </p:nvSpPr>
        <p:spPr>
          <a:xfrm>
            <a:off x="8229600" y="4891125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47" name="Picture 46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29600" y="5192877"/>
            <a:ext cx="310896" cy="228600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8229600" y="5192877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07424" y="4840833"/>
            <a:ext cx="1865375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J U D E A  &amp;  S A M A R I 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07424" y="4977993"/>
            <a:ext cx="1865375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מרכז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07424" y="5298033"/>
            <a:ext cx="1865375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מרכז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5558637"/>
            <a:ext cx="3346703" cy="8430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חשד לפיגוע דריסה ואלימות בעונת המסיק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יהודה ושומרון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חשד לפיגוע דריסה ליד רמת מגרון, אדם נפצע קל; הרכב נעצר ליד עפרה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קבר אלעזר הכהן בעוורתא הוצת, החשודים נמלטו והמשטרה פתחה בחקירה</a:t>
            </a:r>
          </a:p>
        </p:txBody>
      </p:sp>
      <p:sp>
        <p:nvSpPr>
          <p:cNvPr id="53" name="Snip Single Corner Rectangle 52"/>
          <p:cNvSpPr/>
          <p:nvPr/>
        </p:nvSpPr>
        <p:spPr>
          <a:xfrm>
            <a:off x="411480" y="1024128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0624" y="1074420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Parallelogram 54"/>
          <p:cNvSpPr/>
          <p:nvPr/>
        </p:nvSpPr>
        <p:spPr>
          <a:xfrm>
            <a:off x="1536191" y="1074420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1480" y="1024128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0624" y="1751076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8" name="Picture 57" descr="sout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1156716"/>
            <a:ext cx="512064" cy="512064"/>
          </a:xfrm>
          <a:prstGeom prst="rect">
            <a:avLst/>
          </a:prstGeom>
        </p:spPr>
      </p:pic>
      <p:sp>
        <p:nvSpPr>
          <p:cNvPr id="59" name="Parallelogram 58"/>
          <p:cNvSpPr/>
          <p:nvPr/>
        </p:nvSpPr>
        <p:spPr>
          <a:xfrm>
            <a:off x="612648" y="1165860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60" name="Picture 59" descr="p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648" y="1467612"/>
            <a:ext cx="310896" cy="228600"/>
          </a:xfrm>
          <a:prstGeom prst="rect">
            <a:avLst/>
          </a:prstGeom>
        </p:spPr>
      </p:pic>
      <p:sp>
        <p:nvSpPr>
          <p:cNvPr id="61" name="Rectangle 60"/>
          <p:cNvSpPr/>
          <p:nvPr/>
        </p:nvSpPr>
        <p:spPr>
          <a:xfrm>
            <a:off x="612648" y="1467612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90472" y="1115568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G A Z A   S T R I P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490472" y="1252728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זירת דרום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490472" y="1572768"/>
            <a:ext cx="186537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/>
            <a:r>
              <a:rPr sz="85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פיקוד דרום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648" y="1833372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חמאס מאיים במתקפה בסגנון 7 באוקטובר</a:t>
            </a:r>
          </a:p>
          <a:p>
            <a:pPr algn="r" rtl="1">
              <a:lnSpc>
                <a:spcPct val="90000"/>
              </a:lnSpc>
              <a:spcBef>
                <a:spcPts val="400"/>
              </a:spcBef>
            </a:pPr>
            <a:r>
              <a:rPr sz="900">
                <a:solidFill>
                  <a:srgbClr val="C96A00"/>
                </a:solidFill>
                <a:latin typeface="Calibri"/>
                <a:ea typeface="Calibri"/>
                <a:cs typeface="Aduma"/>
              </a:rPr>
              <a:t>■  </a:t>
            </a:r>
            <a:r>
              <a:rPr sz="11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רצועת עזה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חמאס העביר לישראל מסר שהוא ערוך למתקפה נוספת כמו 7 באוקטובר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הצבא חיסל מחבל חמאס שתכנן את הפיגוע שבו נהרגו 4 לוחמי טנק</a:t>
            </a:r>
          </a:p>
        </p:txBody>
      </p:sp>
      <p:sp>
        <p:nvSpPr>
          <p:cNvPr id="66" name="Snip Single Corner Rectangle 65"/>
          <p:cNvSpPr/>
          <p:nvPr/>
        </p:nvSpPr>
        <p:spPr>
          <a:xfrm>
            <a:off x="411480" y="3818077"/>
            <a:ext cx="3749039" cy="2656789"/>
          </a:xfrm>
          <a:prstGeom prst="snip1Rect">
            <a:avLst>
              <a:gd name="adj" fmla="val 6883"/>
            </a:avLst>
          </a:prstGeom>
          <a:solidFill>
            <a:srgbClr val="FFFFFF"/>
          </a:solidFill>
          <a:ln w="9525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0624" y="3868369"/>
            <a:ext cx="3557015" cy="676656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Parallelogram 67"/>
          <p:cNvSpPr/>
          <p:nvPr/>
        </p:nvSpPr>
        <p:spPr>
          <a:xfrm>
            <a:off x="1536191" y="3868369"/>
            <a:ext cx="502920" cy="676656"/>
          </a:xfrm>
          <a:prstGeom prst="parallelogram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3818077"/>
            <a:ext cx="3566159" cy="50292"/>
          </a:xfrm>
          <a:prstGeom prst="rect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20624" y="4545025"/>
            <a:ext cx="3730752" cy="10972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447288" y="3950665"/>
            <a:ext cx="512064" cy="512064"/>
          </a:xfrm>
          <a:prstGeom prst="ellipse">
            <a:avLst/>
          </a:prstGeom>
          <a:solidFill>
            <a:srgbClr val="0E1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529218" y="4032595"/>
            <a:ext cx="348203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631631" y="4032595"/>
            <a:ext cx="143377" cy="348203"/>
          </a:xfrm>
          <a:prstGeom prst="ellipse">
            <a:avLst/>
          </a:prstGeom>
          <a:noFill/>
          <a:ln w="1397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" name="Connector 73"/>
          <p:cNvCxnSpPr/>
          <p:nvPr/>
        </p:nvCxnSpPr>
        <p:spPr>
          <a:xfrm>
            <a:off x="3529218" y="4206697"/>
            <a:ext cx="348203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565062" y="4119646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565062" y="4293748"/>
            <a:ext cx="276515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Parallelogram 76"/>
          <p:cNvSpPr/>
          <p:nvPr/>
        </p:nvSpPr>
        <p:spPr>
          <a:xfrm>
            <a:off x="612648" y="3959809"/>
            <a:ext cx="786384" cy="228600"/>
          </a:xfrm>
          <a:prstGeom prst="parallelogram">
            <a:avLst>
              <a:gd name="adj" fmla="val 25000"/>
            </a:avLst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 rtl="1"/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Aduma"/>
              </a:rPr>
              <a:t>מתפתח</a:t>
            </a:r>
          </a:p>
        </p:txBody>
      </p:sp>
      <p:pic>
        <p:nvPicPr>
          <p:cNvPr id="78" name="Picture 77" descr="u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" y="4261561"/>
            <a:ext cx="310896" cy="228600"/>
          </a:xfrm>
          <a:prstGeom prst="rect">
            <a:avLst/>
          </a:prstGeom>
        </p:spPr>
      </p:pic>
      <p:sp>
        <p:nvSpPr>
          <p:cNvPr id="79" name="Rectangle 78"/>
          <p:cNvSpPr/>
          <p:nvPr/>
        </p:nvSpPr>
        <p:spPr>
          <a:xfrm>
            <a:off x="612648" y="4261561"/>
            <a:ext cx="310896" cy="228600"/>
          </a:xfrm>
          <a:prstGeom prst="rect">
            <a:avLst/>
          </a:prstGeom>
          <a:noFill/>
          <a:ln w="6350">
            <a:solidFill>
              <a:srgbClr val="DC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490472" y="3909517"/>
            <a:ext cx="1865376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700" b="0">
                <a:solidFill>
                  <a:srgbClr val="8A95A4"/>
                </a:solidFill>
                <a:latin typeface="Calibri"/>
                <a:ea typeface="Calibri"/>
                <a:cs typeface="Aduma"/>
              </a:rPr>
              <a:t>I N T E R N A T I O N A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490472" y="4046677"/>
            <a:ext cx="1865376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 rtl="1"/>
            <a:r>
              <a:rPr sz="220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זירה בינלאומית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" y="4627321"/>
            <a:ext cx="3346703" cy="17743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rtl="1">
              <a:lnSpc>
                <a:spcPct val="92000"/>
              </a:lnSpc>
            </a:pPr>
            <a:r>
              <a:rPr sz="1250" b="1">
                <a:solidFill>
                  <a:srgbClr val="0E1621"/>
                </a:solidFill>
                <a:latin typeface="Calibri"/>
                <a:ea typeface="Calibri"/>
                <a:cs typeface="Aduma"/>
              </a:rPr>
              <a:t>התראות ואיומים על יעדים ישראליים ויהודיים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ארקיע עצרה מכירת כרטיסים למרקש במרוקו בהנחיית גורמי הביטחון בישראל</a:t>
            </a:r>
          </a:p>
          <a:p>
            <a:pPr algn="r" rtl="1" marL="160654" indent="-160654">
              <a:lnSpc>
                <a:spcPct val="90000"/>
              </a:lnSpc>
              <a:spcBef>
                <a:spcPts val="300"/>
              </a:spcBef>
              <a:buClr>
                <a:srgbClr val="C96A00"/>
              </a:buClr>
              <a:buSzPct val="75000"/>
              <a:buFont typeface="Arial"/>
              <a:buChar char="◆"/>
            </a:pPr>
            <a:r>
              <a:rPr sz="1100" b="0">
                <a:solidFill>
                  <a:srgbClr val="465263"/>
                </a:solidFill>
                <a:latin typeface="Calibri"/>
                <a:ea typeface="Calibri"/>
                <a:cs typeface="Aduma"/>
              </a:rPr>
              <a:t>קריאות לתקוף את בית הכנסת היחיד באלבניה פורסמו במהומות נגד הממשלה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7882127" y="3749497"/>
            <a:ext cx="146304" cy="0"/>
          </a:xfrm>
          <a:prstGeom prst="line">
            <a:avLst/>
          </a:prstGeom>
          <a:ln w="2540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 flipV="1">
            <a:off x="6484297" y="1370352"/>
            <a:ext cx="1397830" cy="2379145"/>
          </a:xfrm>
          <a:prstGeom prst="line">
            <a:avLst/>
          </a:prstGeom>
          <a:ln w="19050">
            <a:solidFill>
              <a:srgbClr val="1F5F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87283" y="3708349"/>
            <a:ext cx="82296" cy="82296"/>
          </a:xfrm>
          <a:prstGeom prst="ellipse">
            <a:avLst/>
          </a:prstGeom>
          <a:solidFill>
            <a:srgbClr val="1F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 flipH="1">
            <a:off x="7882127" y="5612130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 flipV="1">
            <a:off x="6068491" y="3139942"/>
            <a:ext cx="1813636" cy="2472188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Oval 87"/>
          <p:cNvSpPr/>
          <p:nvPr/>
        </p:nvSpPr>
        <p:spPr>
          <a:xfrm>
            <a:off x="7987283" y="5570982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9" name="Connector 88"/>
          <p:cNvCxnSpPr/>
          <p:nvPr/>
        </p:nvCxnSpPr>
        <p:spPr>
          <a:xfrm>
            <a:off x="4160520" y="2352522"/>
            <a:ext cx="146304" cy="0"/>
          </a:xfrm>
          <a:prstGeom prst="line">
            <a:avLst/>
          </a:prstGeom>
          <a:ln w="2540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306824" y="2352522"/>
            <a:ext cx="886286" cy="1402929"/>
          </a:xfrm>
          <a:prstGeom prst="line">
            <a:avLst/>
          </a:prstGeom>
          <a:ln w="19050">
            <a:solidFill>
              <a:srgbClr val="C96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4119372" y="2311374"/>
            <a:ext cx="82296" cy="82296"/>
          </a:xfrm>
          <a:prstGeom prst="ellipse">
            <a:avLst/>
          </a:prstGeom>
          <a:solidFill>
            <a:srgbClr val="C9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1480" y="6547104"/>
            <a:ext cx="11368735" cy="10972"/>
          </a:xfrm>
          <a:prstGeom prst="rect">
            <a:avLst/>
          </a:prstGeom>
          <a:solidFill>
            <a:srgbClr val="C6CF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611112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8A97A8"/>
                </a:solidFill>
                <a:latin typeface="Calibri"/>
                <a:ea typeface="Calibri"/>
                <a:cs typeface="Aduma"/>
              </a:rPr>
              <a:t>SECTORS 03   ·   SHEET 1/1   ·   SCALE BAR 50 KM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