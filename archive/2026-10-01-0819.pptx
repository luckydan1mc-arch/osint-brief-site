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נבנה אוטומטית בענן (model)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574" y="1024128"/>
            <a:ext cx="3118545" cy="54498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28055" y="219456"/>
            <a:ext cx="585216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26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תמונת מצב מבצעית</a:t>
            </a:r>
          </a:p>
          <a:p>
            <a:pPr algn="r" rtl="1">
              <a:spcBef>
                <a:spcPts val="200"/>
              </a:spcBef>
            </a:pPr>
            <a:r>
              <a:rPr sz="12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1 באוקטובר 2026 · 08:19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82880"/>
            <a:ext cx="682581" cy="5669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786384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DTG 010819OCT26   ·   WGS84 / GEOGRAPHIC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914400"/>
            <a:ext cx="11368735" cy="10972"/>
          </a:xfrm>
          <a:prstGeom prst="rect">
            <a:avLst/>
          </a:prstGeom>
          <a:solidFill>
            <a:srgbClr val="C6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28431" y="1024128"/>
            <a:ext cx="3749039" cy="1725472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79" y="1143000"/>
            <a:ext cx="420624" cy="31546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1155679" y="1143000"/>
            <a:ext cx="420624" cy="315468"/>
          </a:xfrm>
          <a:prstGeom prst="rect">
            <a:avLst/>
          </a:prstGeom>
          <a:noFill/>
          <a:ln w="762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0" y="1177289"/>
            <a:ext cx="749808" cy="246888"/>
          </a:xfrm>
          <a:prstGeom prst="roundRect">
            <a:avLst>
              <a:gd name="adj" fmla="val 50000"/>
            </a:avLst>
          </a:prstGeom>
          <a:solidFill>
            <a:srgbClr val="A66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12" name="Picture 11" descr="homefro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3416" y="1172717"/>
            <a:ext cx="256032" cy="2560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354312" y="1090422"/>
            <a:ext cx="1746503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0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זירת איראן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554480"/>
            <a:ext cx="33467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THEATRE · IRAN / IRAQ / YEMEN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554480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פיקוד העורף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792224"/>
            <a:ext cx="3346703" cy="884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חשד לפיגועי איראן, ארצות הברית מאיימת בתגובה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11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איראן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נבדק חשד למעורבות איראנית בניסיון לרסק מטוס בדרך לישראל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2886760"/>
            <a:ext cx="3749039" cy="1725472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l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55679" y="3005632"/>
            <a:ext cx="420624" cy="315468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11155679" y="3005632"/>
            <a:ext cx="420624" cy="315468"/>
          </a:xfrm>
          <a:prstGeom prst="rect">
            <a:avLst/>
          </a:prstGeom>
          <a:noFill/>
          <a:ln w="762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89335" y="3005632"/>
            <a:ext cx="420624" cy="315468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10689335" y="3005632"/>
            <a:ext cx="420624" cy="315468"/>
          </a:xfrm>
          <a:prstGeom prst="rect">
            <a:avLst/>
          </a:prstGeom>
          <a:noFill/>
          <a:ln w="762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29600" y="3039922"/>
            <a:ext cx="749808" cy="246888"/>
          </a:xfrm>
          <a:prstGeom prst="roundRect">
            <a:avLst>
              <a:gd name="adj" fmla="val 50000"/>
            </a:avLst>
          </a:prstGeom>
          <a:solidFill>
            <a:srgbClr val="A66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23" name="Picture 22" descr="nort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43416" y="3035350"/>
            <a:ext cx="256032" cy="25603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354312" y="2953054"/>
            <a:ext cx="1280159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0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זירת צפון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417112"/>
            <a:ext cx="33467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N · LEBANON / SYRIA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417112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פיקוד צפון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654856"/>
            <a:ext cx="3346703" cy="884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תקיפות אוויריות בדרום לבנון, חילופי כוחות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11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לבנון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חיל האוויר תקף כמה פעמים בדרום לבנון במהלך הלילה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כוחות גולני יצאו לרענון אחרי 7 חודשי פעילות בדרום לבנון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28431" y="4749393"/>
            <a:ext cx="3749039" cy="1725472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p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55679" y="4868265"/>
            <a:ext cx="420624" cy="315468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11155679" y="4868265"/>
            <a:ext cx="420624" cy="315468"/>
          </a:xfrm>
          <a:prstGeom prst="rect">
            <a:avLst/>
          </a:prstGeom>
          <a:noFill/>
          <a:ln w="762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229600" y="4902555"/>
            <a:ext cx="676656" cy="246888"/>
          </a:xfrm>
          <a:prstGeom prst="roundRect">
            <a:avLst>
              <a:gd name="adj" fmla="val 50000"/>
            </a:avLst>
          </a:prstGeom>
          <a:solidFill>
            <a:srgbClr val="0B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32" name="Picture 31" descr="centra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70264" y="4897983"/>
            <a:ext cx="256032" cy="25603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281160" y="4815687"/>
            <a:ext cx="1819655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0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זירת מרכז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5279745"/>
            <a:ext cx="33467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C · WEST BANK / EAST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5279745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פיקוד מרכז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5517489"/>
            <a:ext cx="3346703" cy="884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פרעות ואלימות ביהודה ושומרון, גינוי מהנשיא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11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יהודה ושומרון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הנשיא הרצוג ביקר בבסיס הצבא אחרי פרעות וגינה את האלימות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1480" y="1024128"/>
            <a:ext cx="3749039" cy="2656789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p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38728" y="1143000"/>
            <a:ext cx="420624" cy="315468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3538728" y="1143000"/>
            <a:ext cx="420624" cy="315468"/>
          </a:xfrm>
          <a:prstGeom prst="rect">
            <a:avLst/>
          </a:prstGeom>
          <a:noFill/>
          <a:ln w="762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12648" y="1177289"/>
            <a:ext cx="749808" cy="246888"/>
          </a:xfrm>
          <a:prstGeom prst="roundRect">
            <a:avLst>
              <a:gd name="adj" fmla="val 50000"/>
            </a:avLst>
          </a:prstGeom>
          <a:solidFill>
            <a:srgbClr val="A66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41" name="Picture 40" descr="sout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26464" y="1172717"/>
            <a:ext cx="256032" cy="256032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737360" y="1090422"/>
            <a:ext cx="1746504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0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זירת דרום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" y="1554480"/>
            <a:ext cx="33467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S · GAZA / EGYPT / JORDAN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" y="1554480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פיקוד דרום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648" y="1792224"/>
            <a:ext cx="3346703" cy="1815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הצבא ממשיך בחיסולים בעזה, אזעקות בירדן</a:t>
            </a:r>
          </a:p>
          <a:p>
            <a:pPr algn="r" rtl="1">
              <a:lnSpc>
                <a:spcPct val="82000"/>
              </a:lnSpc>
              <a:spcBef>
                <a:spcPts val="300"/>
              </a:spcBef>
            </a:pPr>
            <a:r>
              <a:rPr sz="11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רצועת עזה</a:t>
            </a:r>
          </a:p>
          <a:p>
            <a:pPr algn="r" rtl="1" marL="160654" indent="-160654">
              <a:lnSpc>
                <a:spcPct val="82000"/>
              </a:lnSpc>
              <a:spcBef>
                <a:spcPts val="1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הצבא חיסל בתקיפה אווירית מפקד מחלקה בזרוע הצבאית של חמאס</a:t>
            </a:r>
          </a:p>
          <a:p>
            <a:pPr algn="r" rtl="1" marL="160654" indent="-160654">
              <a:lnSpc>
                <a:spcPct val="82000"/>
              </a:lnSpc>
              <a:spcBef>
                <a:spcPts val="1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חוסל מחבל חמאס שהוצג כעיתונאי ופשט על ישראל ב-7 באוקטובר</a:t>
            </a:r>
          </a:p>
          <a:p>
            <a:pPr algn="r" rtl="1">
              <a:lnSpc>
                <a:spcPct val="82000"/>
              </a:lnSpc>
              <a:spcBef>
                <a:spcPts val="300"/>
              </a:spcBef>
            </a:pPr>
            <a:r>
              <a:rPr sz="11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ירדן</a:t>
            </a:r>
          </a:p>
          <a:p>
            <a:pPr algn="r" rtl="1" marL="160654" indent="-160654">
              <a:lnSpc>
                <a:spcPct val="82000"/>
              </a:lnSpc>
              <a:spcBef>
                <a:spcPts val="1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הופעלו אזעקות בירדן, לפי דיווח לא מאושר באזור בסיסים אמריקניים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11480" y="3818077"/>
            <a:ext cx="3749039" cy="2656789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u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38728" y="3936949"/>
            <a:ext cx="420624" cy="315468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3538728" y="3936949"/>
            <a:ext cx="420624" cy="315468"/>
          </a:xfrm>
          <a:prstGeom prst="rect">
            <a:avLst/>
          </a:prstGeom>
          <a:noFill/>
          <a:ln w="762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12648" y="3971239"/>
            <a:ext cx="530352" cy="246888"/>
          </a:xfrm>
          <a:prstGeom prst="roundRect">
            <a:avLst>
              <a:gd name="adj" fmla="val 50000"/>
            </a:avLst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חם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463040" y="3884371"/>
            <a:ext cx="2020824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0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זירה בינלאומית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" y="4348429"/>
            <a:ext cx="33467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GLOBAL · SECURITY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2648" y="4586173"/>
            <a:ext cx="3346703" cy="1815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ניסיון לרסק מטוס לישראל, חשד למעורבות איראן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טייס משנה עומאני ניסה לרסק טיסה לישראל ונוסעים ישראלים השתלטו עליו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המטוס נחת בסעודיה ו-174 הנוסעים חזרו לישראל בערב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בריטניה מצביעה על איראן בפיגוע שסוכל בבסיס פיירפורד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ישראלי נרצח באי קופנגן בתאילנד, ונבדקת האפשרות של רקע לאומני</a:t>
            </a:r>
          </a:p>
        </p:txBody>
      </p:sp>
      <p:cxnSp>
        <p:nvCxnSpPr>
          <p:cNvPr id="53" name="Connector 52"/>
          <p:cNvCxnSpPr/>
          <p:nvPr/>
        </p:nvCxnSpPr>
        <p:spPr>
          <a:xfrm flipH="1">
            <a:off x="7882127" y="3749497"/>
            <a:ext cx="146304" cy="0"/>
          </a:xfrm>
          <a:prstGeom prst="line">
            <a:avLst/>
          </a:prstGeom>
          <a:ln w="25400">
            <a:solidFill>
              <a:srgbClr val="A66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 flipV="1">
            <a:off x="6320164" y="1575521"/>
            <a:ext cx="1561963" cy="2173976"/>
          </a:xfrm>
          <a:prstGeom prst="line">
            <a:avLst/>
          </a:prstGeom>
          <a:ln w="19050">
            <a:solidFill>
              <a:srgbClr val="A66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7987283" y="3708349"/>
            <a:ext cx="82296" cy="82296"/>
          </a:xfrm>
          <a:prstGeom prst="ellipse">
            <a:avLst/>
          </a:prstGeom>
          <a:solidFill>
            <a:srgbClr val="A66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 flipH="1">
            <a:off x="7882127" y="5612130"/>
            <a:ext cx="146304" cy="0"/>
          </a:xfrm>
          <a:prstGeom prst="line">
            <a:avLst/>
          </a:prstGeom>
          <a:ln w="25400">
            <a:solidFill>
              <a:srgbClr val="0B5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 flipV="1">
            <a:off x="6068491" y="3139942"/>
            <a:ext cx="1813636" cy="2472188"/>
          </a:xfrm>
          <a:prstGeom prst="line">
            <a:avLst/>
          </a:prstGeom>
          <a:ln w="19050">
            <a:solidFill>
              <a:srgbClr val="0B5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7987283" y="5570982"/>
            <a:ext cx="82296" cy="82296"/>
          </a:xfrm>
          <a:prstGeom prst="ellipse">
            <a:avLst/>
          </a:prstGeom>
          <a:solidFill>
            <a:srgbClr val="0B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4160520" y="2352522"/>
            <a:ext cx="146304" cy="0"/>
          </a:xfrm>
          <a:prstGeom prst="line">
            <a:avLst/>
          </a:prstGeom>
          <a:ln w="25400">
            <a:solidFill>
              <a:srgbClr val="A66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4306824" y="2352522"/>
            <a:ext cx="940998" cy="1274698"/>
          </a:xfrm>
          <a:prstGeom prst="line">
            <a:avLst/>
          </a:prstGeom>
          <a:ln w="19050">
            <a:solidFill>
              <a:srgbClr val="A66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4119372" y="2311374"/>
            <a:ext cx="82296" cy="82296"/>
          </a:xfrm>
          <a:prstGeom prst="ellipse">
            <a:avLst/>
          </a:prstGeom>
          <a:solidFill>
            <a:srgbClr val="A66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11480" y="6547104"/>
            <a:ext cx="11368735" cy="10972"/>
          </a:xfrm>
          <a:prstGeom prst="rect">
            <a:avLst/>
          </a:prstGeom>
          <a:solidFill>
            <a:srgbClr val="C6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1480" y="661111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SECTORS 03   ·   SHEET 1/1   ·   SCALE BAR 50 KM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