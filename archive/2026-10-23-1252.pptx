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נבנה אוטומטית בענן (model)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011680" y="0"/>
            <a:ext cx="237744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6949440" y="0"/>
            <a:ext cx="201168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692640" y="0"/>
            <a:ext cx="128016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6574" y="1024128"/>
            <a:ext cx="3118545" cy="5449824"/>
          </a:xfrm>
          <a:prstGeom prst="rect">
            <a:avLst/>
          </a:prstGeom>
        </p:spPr>
      </p:pic>
      <p:sp>
        <p:nvSpPr>
          <p:cNvPr id="7" name="Snip Single Corner Rectangle 6"/>
          <p:cNvSpPr/>
          <p:nvPr/>
        </p:nvSpPr>
        <p:spPr>
          <a:xfrm rot="10800000">
            <a:off x="411480" y="128016"/>
            <a:ext cx="11368735" cy="768096"/>
          </a:xfrm>
          <a:prstGeom prst="snip1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2428" y="210312"/>
            <a:ext cx="726618" cy="6035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219724" y="164592"/>
            <a:ext cx="548640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90000"/>
              </a:lnSpc>
            </a:pPr>
            <a:r>
              <a:rPr sz="28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תמונת מצב מבצעית</a:t>
            </a:r>
          </a:p>
          <a:p>
            <a:pPr algn="r" rtl="1">
              <a:spcBef>
                <a:spcPts val="100"/>
              </a:spcBef>
            </a:pPr>
            <a:r>
              <a:rPr sz="13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סוכן אוסינט · ענף מבצעים חמ״ץ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"/>
            <a:ext cx="42062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rtl="1"/>
            <a:r>
              <a:rPr sz="2000" b="1">
                <a:solidFill>
                  <a:srgbClr val="1C2A3D"/>
                </a:solidFill>
                <a:latin typeface="Calibri"/>
                <a:ea typeface="Calibri"/>
                <a:cs typeface="Aduma"/>
              </a:rPr>
              <a:t>23 באוקטובר 2026</a:t>
            </a:r>
            <a:r>
              <a:rPr sz="2000" b="1">
                <a:solidFill>
                  <a:srgbClr val="C41E3A"/>
                </a:solidFill>
                <a:latin typeface="Calibri"/>
                <a:ea typeface="Calibri"/>
                <a:cs typeface="Aduma"/>
              </a:rPr>
              <a:t>  |  </a:t>
            </a:r>
            <a:r>
              <a:rPr sz="2000" b="1">
                <a:solidFill>
                  <a:srgbClr val="1C2A3D"/>
                </a:solidFill>
                <a:latin typeface="Calibri"/>
                <a:ea typeface="Calibri"/>
                <a:cs typeface="Aduma"/>
              </a:rPr>
              <a:t>12:52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2179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DTG 231252OCT26   ·   WGS84 / GEOGRAPHIC</a:t>
            </a:r>
          </a:p>
        </p:txBody>
      </p:sp>
      <p:sp>
        <p:nvSpPr>
          <p:cNvPr id="12" name="Snip Single Corner Rectangle 11"/>
          <p:cNvSpPr/>
          <p:nvPr/>
        </p:nvSpPr>
        <p:spPr>
          <a:xfrm>
            <a:off x="8028431" y="1024128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37575" y="1074420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arallelogram 13"/>
          <p:cNvSpPr/>
          <p:nvPr/>
        </p:nvSpPr>
        <p:spPr>
          <a:xfrm>
            <a:off x="9153144" y="1074420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28431" y="1024128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37575" y="1751076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homefro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39" y="1156716"/>
            <a:ext cx="512064" cy="512064"/>
          </a:xfrm>
          <a:prstGeom prst="rect">
            <a:avLst/>
          </a:prstGeom>
        </p:spPr>
      </p:pic>
      <p:sp>
        <p:nvSpPr>
          <p:cNvPr id="18" name="Parallelogram 17"/>
          <p:cNvSpPr/>
          <p:nvPr/>
        </p:nvSpPr>
        <p:spPr>
          <a:xfrm>
            <a:off x="8229600" y="1165860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19" name="Picture 18" descr="i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1467612"/>
            <a:ext cx="310896" cy="22860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8229600" y="1467612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07424" y="1115568"/>
            <a:ext cx="1865375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I R A N  ·  I R A Q  ·  Y E M E 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07424" y="1252728"/>
            <a:ext cx="1865375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איראן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07424" y="1572768"/>
            <a:ext cx="1865375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העורף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1833372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חידוש התקיפות באיראן אפשרי בתחילת נובמבר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96A00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איראן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ארצות הברית וישראל הכינו תוכניות לחידוש התקיפות באיראן בתחילת נובמבר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איראן מאיימת לתקוף מתקני נפט במפרץ אם התקיפות יחודשו</a:t>
            </a:r>
          </a:p>
        </p:txBody>
      </p:sp>
      <p:sp>
        <p:nvSpPr>
          <p:cNvPr id="25" name="Snip Single Corner Rectangle 24"/>
          <p:cNvSpPr/>
          <p:nvPr/>
        </p:nvSpPr>
        <p:spPr>
          <a:xfrm>
            <a:off x="8028431" y="2886760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37575" y="2937052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arallelogram 26"/>
          <p:cNvSpPr/>
          <p:nvPr/>
        </p:nvSpPr>
        <p:spPr>
          <a:xfrm>
            <a:off x="9153144" y="2937052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28431" y="2886760"/>
            <a:ext cx="3566159" cy="50292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37575" y="3613708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nort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64239" y="3019348"/>
            <a:ext cx="512064" cy="512064"/>
          </a:xfrm>
          <a:prstGeom prst="rect">
            <a:avLst/>
          </a:prstGeom>
        </p:spPr>
      </p:pic>
      <p:sp>
        <p:nvSpPr>
          <p:cNvPr id="31" name="Parallelogram 30"/>
          <p:cNvSpPr/>
          <p:nvPr/>
        </p:nvSpPr>
        <p:spPr>
          <a:xfrm>
            <a:off x="8229600" y="3028492"/>
            <a:ext cx="731520" cy="228600"/>
          </a:xfrm>
          <a:prstGeom prst="parallelogram">
            <a:avLst>
              <a:gd name="adj" fmla="val 25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מעקב</a:t>
            </a:r>
          </a:p>
        </p:txBody>
      </p:sp>
      <p:pic>
        <p:nvPicPr>
          <p:cNvPr id="32" name="Picture 31" descr="s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0" y="3330244"/>
            <a:ext cx="310896" cy="228600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8229600" y="3330244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l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86216" y="3330244"/>
            <a:ext cx="310896" cy="228600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8586216" y="3330244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52560" y="2978200"/>
            <a:ext cx="1920239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L E B A N O N  ·  S Y R I 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3115360"/>
            <a:ext cx="1920239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צפון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3435400"/>
            <a:ext cx="1920239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צפון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3696004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חיזבאללה מכין פיגועים נגד ישראלים בעולם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1F5FA8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לבנון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1F5FA8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חיזבאללה מאמן עבריינים מאמריקה הלטינית לפיגועים נגד ישראלים ויהודים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1F5FA8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שר הביטחון הטיל סנקציה על חברה בריטית שסיפקה דלק לחיזבאללה</a:t>
            </a:r>
          </a:p>
        </p:txBody>
      </p:sp>
      <p:sp>
        <p:nvSpPr>
          <p:cNvPr id="40" name="Snip Single Corner Rectangle 39"/>
          <p:cNvSpPr/>
          <p:nvPr/>
        </p:nvSpPr>
        <p:spPr>
          <a:xfrm>
            <a:off x="8028431" y="4749393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37575" y="4799685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Parallelogram 41"/>
          <p:cNvSpPr/>
          <p:nvPr/>
        </p:nvSpPr>
        <p:spPr>
          <a:xfrm>
            <a:off x="9153144" y="4799685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028431" y="4749393"/>
            <a:ext cx="3566159" cy="5029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37575" y="5476341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centra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64239" y="4881981"/>
            <a:ext cx="512064" cy="512064"/>
          </a:xfrm>
          <a:prstGeom prst="rect">
            <a:avLst/>
          </a:prstGeom>
        </p:spPr>
      </p:pic>
      <p:sp>
        <p:nvSpPr>
          <p:cNvPr id="46" name="Parallelogram 45"/>
          <p:cNvSpPr/>
          <p:nvPr/>
        </p:nvSpPr>
        <p:spPr>
          <a:xfrm>
            <a:off x="8229600" y="4891125"/>
            <a:ext cx="566928" cy="228600"/>
          </a:xfrm>
          <a:prstGeom prst="parallelogram">
            <a:avLst>
              <a:gd name="adj" fmla="val 25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חם</a:t>
            </a:r>
          </a:p>
        </p:txBody>
      </p:sp>
      <p:pic>
        <p:nvPicPr>
          <p:cNvPr id="47" name="Picture 46" descr="p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9600" y="5192877"/>
            <a:ext cx="310896" cy="22860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8229600" y="5192877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887967" y="4840833"/>
            <a:ext cx="2084831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J U D E A  &amp;  S A M A R I 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87967" y="4977993"/>
            <a:ext cx="2084831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מרכז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87967" y="5298033"/>
            <a:ext cx="2084831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מרכז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0" y="5558637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כתר על חברון והיערכות לסגר אחרי פיגוע ירי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8102E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יהודה ושומרון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8102E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שני מחבלי חמאס ירו על מחסום בצומת יהודה, 5 ישראלים נפצעו, 2 אנוש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8102E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ראש הממשלה הורה על כתר על חברון והיערכות לסגר מלא על יהודה ושומרון</a:t>
            </a:r>
          </a:p>
        </p:txBody>
      </p:sp>
      <p:sp>
        <p:nvSpPr>
          <p:cNvPr id="53" name="Snip Single Corner Rectangle 52"/>
          <p:cNvSpPr/>
          <p:nvPr/>
        </p:nvSpPr>
        <p:spPr>
          <a:xfrm>
            <a:off x="411480" y="1024128"/>
            <a:ext cx="3749039" cy="2656789"/>
          </a:xfrm>
          <a:prstGeom prst="snip1Rect">
            <a:avLst>
              <a:gd name="adj" fmla="val 6883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20624" y="1074420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Parallelogram 54"/>
          <p:cNvSpPr/>
          <p:nvPr/>
        </p:nvSpPr>
        <p:spPr>
          <a:xfrm>
            <a:off x="1536191" y="1074420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11480" y="1024128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20624" y="1751076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south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47288" y="1156716"/>
            <a:ext cx="512064" cy="512064"/>
          </a:xfrm>
          <a:prstGeom prst="rect">
            <a:avLst/>
          </a:prstGeom>
        </p:spPr>
      </p:pic>
      <p:sp>
        <p:nvSpPr>
          <p:cNvPr id="59" name="Parallelogram 58"/>
          <p:cNvSpPr/>
          <p:nvPr/>
        </p:nvSpPr>
        <p:spPr>
          <a:xfrm>
            <a:off x="612648" y="1165860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60" name="Picture 59" descr="p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648" y="1467612"/>
            <a:ext cx="310896" cy="228600"/>
          </a:xfrm>
          <a:prstGeom prst="rect">
            <a:avLst/>
          </a:prstGeom>
        </p:spPr>
      </p:pic>
      <p:sp>
        <p:nvSpPr>
          <p:cNvPr id="61" name="Rectangle 60"/>
          <p:cNvSpPr/>
          <p:nvPr/>
        </p:nvSpPr>
        <p:spPr>
          <a:xfrm>
            <a:off x="612648" y="1467612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490472" y="1115568"/>
            <a:ext cx="1865376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G A Z A   S T R I P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490472" y="1252728"/>
            <a:ext cx="1865376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דרום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490472" y="1572768"/>
            <a:ext cx="186537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דרום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2648" y="1833372"/>
            <a:ext cx="3346703" cy="1774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אין אירוע חדש בגזרה ב-24 השעות האחרונות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96A00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רצועת עזה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לא דווח אירוע חדש ב-24 השעות האחרונות</a:t>
            </a:r>
          </a:p>
        </p:txBody>
      </p:sp>
      <p:sp>
        <p:nvSpPr>
          <p:cNvPr id="66" name="Snip Single Corner Rectangle 65"/>
          <p:cNvSpPr/>
          <p:nvPr/>
        </p:nvSpPr>
        <p:spPr>
          <a:xfrm>
            <a:off x="411480" y="3818077"/>
            <a:ext cx="3749039" cy="2656789"/>
          </a:xfrm>
          <a:prstGeom prst="snip1Rect">
            <a:avLst>
              <a:gd name="adj" fmla="val 6883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20624" y="3868369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Parallelogram 67"/>
          <p:cNvSpPr/>
          <p:nvPr/>
        </p:nvSpPr>
        <p:spPr>
          <a:xfrm>
            <a:off x="1536191" y="3868369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11480" y="3818077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20624" y="4545025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447288" y="3950665"/>
            <a:ext cx="512064" cy="512064"/>
          </a:xfrm>
          <a:prstGeom prst="ellipse">
            <a:avLst/>
          </a:prstGeom>
          <a:solidFill>
            <a:srgbClr val="0E1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529218" y="4032595"/>
            <a:ext cx="348203" cy="348203"/>
          </a:xfrm>
          <a:prstGeom prst="ellipse">
            <a:avLst/>
          </a:prstGeom>
          <a:noFill/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631631" y="4032595"/>
            <a:ext cx="143377" cy="348203"/>
          </a:xfrm>
          <a:prstGeom prst="ellipse">
            <a:avLst/>
          </a:prstGeom>
          <a:noFill/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" name="Connector 73"/>
          <p:cNvCxnSpPr/>
          <p:nvPr/>
        </p:nvCxnSpPr>
        <p:spPr>
          <a:xfrm>
            <a:off x="3529218" y="4206697"/>
            <a:ext cx="348203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3565062" y="4119646"/>
            <a:ext cx="276515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3565062" y="4293748"/>
            <a:ext cx="276515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Parallelogram 76"/>
          <p:cNvSpPr/>
          <p:nvPr/>
        </p:nvSpPr>
        <p:spPr>
          <a:xfrm>
            <a:off x="612648" y="3959809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78" name="Picture 77" descr="u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2648" y="4261561"/>
            <a:ext cx="310896" cy="228600"/>
          </a:xfrm>
          <a:prstGeom prst="rect">
            <a:avLst/>
          </a:prstGeom>
        </p:spPr>
      </p:pic>
      <p:sp>
        <p:nvSpPr>
          <p:cNvPr id="79" name="Rectangle 78"/>
          <p:cNvSpPr/>
          <p:nvPr/>
        </p:nvSpPr>
        <p:spPr>
          <a:xfrm>
            <a:off x="612648" y="4261561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490472" y="3909517"/>
            <a:ext cx="1865376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I N T E R N A T I O N A L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490472" y="4046677"/>
            <a:ext cx="1865376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זירה בינלאומית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12648" y="4627321"/>
            <a:ext cx="3346703" cy="1774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גל תקיפות נגד יהודים ובתי כנסת בארצות הברית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אישה דקרה בגבו יהודי חסידי במנהטן ונמלטה, נבדק מניע אנטישמי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צעיר מיוטה איים לפוצץ בית כנסת, ובביתו נמצאו מטענים ורובים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גבר נעצר בלונג איילנד אחרי שניסה לפרוץ לבית כנסת ולהצית שלט בחצר</a:t>
            </a:r>
          </a:p>
        </p:txBody>
      </p:sp>
      <p:cxnSp>
        <p:nvCxnSpPr>
          <p:cNvPr id="83" name="Connector 82"/>
          <p:cNvCxnSpPr/>
          <p:nvPr/>
        </p:nvCxnSpPr>
        <p:spPr>
          <a:xfrm flipH="1">
            <a:off x="7882127" y="3749497"/>
            <a:ext cx="146304" cy="0"/>
          </a:xfrm>
          <a:prstGeom prst="line">
            <a:avLst/>
          </a:prstGeom>
          <a:ln w="25400">
            <a:solidFill>
              <a:srgbClr val="1F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H="1" flipV="1">
            <a:off x="6484297" y="1370352"/>
            <a:ext cx="1397830" cy="2379145"/>
          </a:xfrm>
          <a:prstGeom prst="line">
            <a:avLst/>
          </a:prstGeom>
          <a:ln w="19050">
            <a:solidFill>
              <a:srgbClr val="1F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Oval 84"/>
          <p:cNvSpPr/>
          <p:nvPr/>
        </p:nvSpPr>
        <p:spPr>
          <a:xfrm>
            <a:off x="7987283" y="3708349"/>
            <a:ext cx="82296" cy="82296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" name="Connector 85"/>
          <p:cNvCxnSpPr/>
          <p:nvPr/>
        </p:nvCxnSpPr>
        <p:spPr>
          <a:xfrm flipH="1">
            <a:off x="7882127" y="5612130"/>
            <a:ext cx="146304" cy="0"/>
          </a:xfrm>
          <a:prstGeom prst="line">
            <a:avLst/>
          </a:prstGeom>
          <a:ln w="25400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H="1" flipV="1">
            <a:off x="5959069" y="3614397"/>
            <a:ext cx="1923058" cy="1997733"/>
          </a:xfrm>
          <a:prstGeom prst="line">
            <a:avLst/>
          </a:prstGeom>
          <a:ln w="19050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Oval 87"/>
          <p:cNvSpPr/>
          <p:nvPr/>
        </p:nvSpPr>
        <p:spPr>
          <a:xfrm>
            <a:off x="7987283" y="5570982"/>
            <a:ext cx="82296" cy="82296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" name="Connector 88"/>
          <p:cNvCxnSpPr/>
          <p:nvPr/>
        </p:nvCxnSpPr>
        <p:spPr>
          <a:xfrm>
            <a:off x="4160520" y="2352522"/>
            <a:ext cx="146304" cy="0"/>
          </a:xfrm>
          <a:prstGeom prst="line">
            <a:avLst/>
          </a:prstGeom>
          <a:ln w="2540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4306824" y="2352522"/>
            <a:ext cx="886286" cy="1402929"/>
          </a:xfrm>
          <a:prstGeom prst="line">
            <a:avLst/>
          </a:prstGeom>
          <a:ln w="1905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Oval 90"/>
          <p:cNvSpPr/>
          <p:nvPr/>
        </p:nvSpPr>
        <p:spPr>
          <a:xfrm>
            <a:off x="4119372" y="2311374"/>
            <a:ext cx="82296" cy="82296"/>
          </a:xfrm>
          <a:prstGeom prst="ellipse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11480" y="6547104"/>
            <a:ext cx="11368735" cy="10972"/>
          </a:xfrm>
          <a:prstGeom prst="rect">
            <a:avLst/>
          </a:prstGeom>
          <a:solidFill>
            <a:srgbClr val="C6C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11480" y="661111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SECTORS 03   ·   SHEET 1/1   ·   SCALE BAR 50 KM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