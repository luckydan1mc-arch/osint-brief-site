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נבנה אוטומטית בענן (model)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6574" y="1024128"/>
            <a:ext cx="3118545" cy="54498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28055" y="219456"/>
            <a:ext cx="585216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2600" b="1">
                <a:solidFill>
                  <a:srgbClr val="0B1220"/>
                </a:solidFill>
                <a:latin typeface="Calibri"/>
                <a:ea typeface="Calibri"/>
                <a:cs typeface="Aduma"/>
              </a:rPr>
              <a:t>תמונת מצב מבצעית</a:t>
            </a:r>
          </a:p>
          <a:p>
            <a:pPr algn="r" rtl="1">
              <a:spcBef>
                <a:spcPts val="200"/>
              </a:spcBef>
            </a:pPr>
            <a:r>
              <a:rPr sz="1200" b="0">
                <a:solidFill>
                  <a:srgbClr val="3F4C60"/>
                </a:solidFill>
                <a:latin typeface="Calibri"/>
                <a:ea typeface="Calibri"/>
                <a:cs typeface="Aduma"/>
              </a:rPr>
              <a:t>3 באוקטובר 2026 · 19:45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82880"/>
            <a:ext cx="682581" cy="566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786384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8A97A8"/>
                </a:solidFill>
                <a:latin typeface="Calibri"/>
                <a:ea typeface="Calibri"/>
                <a:cs typeface="Aduma"/>
              </a:rPr>
              <a:t>DTG 031945OCT26   ·   WGS84 / GEOGRAPHIC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914400"/>
            <a:ext cx="11368735" cy="10972"/>
          </a:xfrm>
          <a:prstGeom prst="rect">
            <a:avLst/>
          </a:prstGeom>
          <a:solidFill>
            <a:srgbClr val="C6C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028431" y="1024128"/>
            <a:ext cx="3749039" cy="1725472"/>
          </a:xfrm>
          <a:prstGeom prst="roundRect">
            <a:avLst>
              <a:gd name="adj" fmla="val 5000"/>
            </a:avLst>
          </a:prstGeom>
          <a:solidFill>
            <a:srgbClr val="FAFBFD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55679" y="1143000"/>
            <a:ext cx="420624" cy="315468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11155679" y="1143000"/>
            <a:ext cx="420624" cy="315468"/>
          </a:xfrm>
          <a:prstGeom prst="rect">
            <a:avLst/>
          </a:prstGeom>
          <a:noFill/>
          <a:ln w="7620">
            <a:solidFill>
              <a:srgbClr val="8A97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0" y="1177289"/>
            <a:ext cx="749808" cy="246888"/>
          </a:xfrm>
          <a:prstGeom prst="roundRect">
            <a:avLst>
              <a:gd name="adj" fmla="val 50000"/>
            </a:avLst>
          </a:prstGeom>
          <a:solidFill>
            <a:srgbClr val="A66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 rtl="1"/>
            <a:r>
              <a:rPr sz="1300" b="0">
                <a:solidFill>
                  <a:srgbClr val="FFFFFF"/>
                </a:solidFill>
                <a:latin typeface="Calibri"/>
                <a:ea typeface="Calibri"/>
                <a:cs typeface="Aduma"/>
              </a:rPr>
              <a:t>מתפתח</a:t>
            </a:r>
          </a:p>
        </p:txBody>
      </p:sp>
      <p:pic>
        <p:nvPicPr>
          <p:cNvPr id="12" name="Picture 11" descr="homefro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43416" y="1172717"/>
            <a:ext cx="256032" cy="2560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354312" y="1090422"/>
            <a:ext cx="1746503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 rtl="1"/>
            <a:r>
              <a:rPr sz="2000" b="1">
                <a:solidFill>
                  <a:srgbClr val="0B1220"/>
                </a:solidFill>
                <a:latin typeface="Calibri"/>
                <a:ea typeface="Calibri"/>
                <a:cs typeface="Aduma"/>
              </a:rPr>
              <a:t>זירת איראן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1554480"/>
            <a:ext cx="334670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8A97A8"/>
                </a:solidFill>
                <a:latin typeface="Calibri"/>
                <a:ea typeface="Calibri"/>
                <a:cs typeface="Aduma"/>
              </a:rPr>
              <a:t>THEATRE · IRAN / IRAQ / YEMEN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1554480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rtl="1"/>
            <a:r>
              <a:rPr sz="800" b="0">
                <a:solidFill>
                  <a:srgbClr val="8A97A8"/>
                </a:solidFill>
                <a:latin typeface="Calibri"/>
                <a:ea typeface="Calibri"/>
                <a:cs typeface="Aduma"/>
              </a:rPr>
              <a:t>פיקוד העורף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1792224"/>
            <a:ext cx="3346703" cy="884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92000"/>
              </a:lnSpc>
            </a:pPr>
            <a:r>
              <a:rPr sz="1250" b="1">
                <a:solidFill>
                  <a:srgbClr val="0B1220"/>
                </a:solidFill>
                <a:latin typeface="Calibri"/>
                <a:ea typeface="Calibri"/>
                <a:cs typeface="Aduma"/>
              </a:rPr>
              <a:t>לחץ צבאי גובר על איראן ועל המורדים בתימן</a:t>
            </a:r>
          </a:p>
          <a:p>
            <a:pPr algn="r" rtl="1">
              <a:lnSpc>
                <a:spcPct val="90000"/>
              </a:lnSpc>
              <a:spcBef>
                <a:spcPts val="400"/>
              </a:spcBef>
            </a:pPr>
            <a:r>
              <a:rPr sz="1100" b="1">
                <a:solidFill>
                  <a:srgbClr val="0B1220"/>
                </a:solidFill>
                <a:latin typeface="Calibri"/>
                <a:ea typeface="Calibri"/>
                <a:cs typeface="Aduma"/>
              </a:rPr>
              <a:t>איראן</a:t>
            </a:r>
          </a:p>
          <a:p>
            <a:pPr algn="r" rtl="1" marL="160654" indent="-160654">
              <a:lnSpc>
                <a:spcPct val="90000"/>
              </a:lnSpc>
              <a:spcBef>
                <a:spcPts val="300"/>
              </a:spcBef>
              <a:buFont typeface="Arial"/>
              <a:buChar char="•"/>
            </a:pPr>
            <a:r>
              <a:rPr sz="1100" b="0">
                <a:solidFill>
                  <a:srgbClr val="3F4C60"/>
                </a:solidFill>
                <a:latin typeface="Calibri"/>
                <a:ea typeface="Calibri"/>
                <a:cs typeface="Aduma"/>
              </a:rPr>
              <a:t>טראמפ שוקל לחדש תקיפות באיראן, והפנטגון מתכנן תגבור ימי באזור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8431" y="2886760"/>
            <a:ext cx="3749039" cy="1725472"/>
          </a:xfrm>
          <a:prstGeom prst="roundRect">
            <a:avLst>
              <a:gd name="adj" fmla="val 5000"/>
            </a:avLst>
          </a:prstGeom>
          <a:solidFill>
            <a:srgbClr val="FAFBFD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55679" y="3005632"/>
            <a:ext cx="420624" cy="315468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11155679" y="3005632"/>
            <a:ext cx="420624" cy="315468"/>
          </a:xfrm>
          <a:prstGeom prst="rect">
            <a:avLst/>
          </a:prstGeom>
          <a:noFill/>
          <a:ln w="7620">
            <a:solidFill>
              <a:srgbClr val="8A97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89335" y="3005632"/>
            <a:ext cx="420624" cy="315468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10689335" y="3005632"/>
            <a:ext cx="420624" cy="315468"/>
          </a:xfrm>
          <a:prstGeom prst="rect">
            <a:avLst/>
          </a:prstGeom>
          <a:noFill/>
          <a:ln w="7620">
            <a:solidFill>
              <a:srgbClr val="8A97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229600" y="3039922"/>
            <a:ext cx="676656" cy="246888"/>
          </a:xfrm>
          <a:prstGeom prst="roundRect">
            <a:avLst>
              <a:gd name="adj" fmla="val 50000"/>
            </a:avLst>
          </a:prstGeom>
          <a:solidFill>
            <a:srgbClr val="0B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 rtl="1"/>
            <a:r>
              <a:rPr sz="1300" b="0">
                <a:solidFill>
                  <a:srgbClr val="FFFFFF"/>
                </a:solidFill>
                <a:latin typeface="Calibri"/>
                <a:ea typeface="Calibri"/>
                <a:cs typeface="Aduma"/>
              </a:rPr>
              <a:t>מעקב</a:t>
            </a:r>
          </a:p>
        </p:txBody>
      </p:sp>
      <p:pic>
        <p:nvPicPr>
          <p:cNvPr id="23" name="Picture 22" descr="nort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70264" y="3035350"/>
            <a:ext cx="256032" cy="25603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81160" y="2953054"/>
            <a:ext cx="1353311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 rtl="1"/>
            <a:r>
              <a:rPr sz="2000" b="1">
                <a:solidFill>
                  <a:srgbClr val="0B1220"/>
                </a:solidFill>
                <a:latin typeface="Calibri"/>
                <a:ea typeface="Calibri"/>
                <a:cs typeface="Aduma"/>
              </a:rPr>
              <a:t>זירת צפון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3417112"/>
            <a:ext cx="334670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8A97A8"/>
                </a:solidFill>
                <a:latin typeface="Calibri"/>
                <a:ea typeface="Calibri"/>
                <a:cs typeface="Aduma"/>
              </a:rPr>
              <a:t>N · LEBANON / SYRIA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3417112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rtl="1"/>
            <a:r>
              <a:rPr sz="800" b="0">
                <a:solidFill>
                  <a:srgbClr val="8A97A8"/>
                </a:solidFill>
                <a:latin typeface="Calibri"/>
                <a:ea typeface="Calibri"/>
                <a:cs typeface="Aduma"/>
              </a:rPr>
              <a:t>פיקוד צפון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3654856"/>
            <a:ext cx="3346703" cy="884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92000"/>
              </a:lnSpc>
            </a:pPr>
            <a:r>
              <a:rPr sz="1250" b="1">
                <a:solidFill>
                  <a:srgbClr val="0B1220"/>
                </a:solidFill>
                <a:latin typeface="Calibri"/>
                <a:ea typeface="Calibri"/>
                <a:cs typeface="Aduma"/>
              </a:rPr>
              <a:t>בלבנון דווחה תאונת רכבים עם שישה פצועים</a:t>
            </a:r>
          </a:p>
          <a:p>
            <a:pPr algn="r" rtl="1">
              <a:lnSpc>
                <a:spcPct val="90000"/>
              </a:lnSpc>
              <a:spcBef>
                <a:spcPts val="400"/>
              </a:spcBef>
            </a:pPr>
            <a:r>
              <a:rPr sz="1100" b="1">
                <a:solidFill>
                  <a:srgbClr val="0B1220"/>
                </a:solidFill>
                <a:latin typeface="Calibri"/>
                <a:ea typeface="Calibri"/>
                <a:cs typeface="Aduma"/>
              </a:rPr>
              <a:t>לבנון</a:t>
            </a:r>
          </a:p>
          <a:p>
            <a:pPr algn="r" rtl="1" marL="160654" indent="-160654">
              <a:lnSpc>
                <a:spcPct val="90000"/>
              </a:lnSpc>
              <a:spcBef>
                <a:spcPts val="300"/>
              </a:spcBef>
              <a:buFont typeface="Arial"/>
              <a:buChar char="•"/>
            </a:pPr>
            <a:r>
              <a:rPr sz="1100" b="0">
                <a:solidFill>
                  <a:srgbClr val="3F4C60"/>
                </a:solidFill>
                <a:latin typeface="Calibri"/>
                <a:ea typeface="Calibri"/>
                <a:cs typeface="Aduma"/>
              </a:rPr>
              <a:t>שני רכבים התנגשו בגלל בוץ וגשם, ושישה פצועים פונו לבית חולים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28431" y="4749393"/>
            <a:ext cx="3749039" cy="1725472"/>
          </a:xfrm>
          <a:prstGeom prst="roundRect">
            <a:avLst>
              <a:gd name="adj" fmla="val 5000"/>
            </a:avLst>
          </a:prstGeom>
          <a:solidFill>
            <a:srgbClr val="FAFBFD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p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55679" y="4868265"/>
            <a:ext cx="420624" cy="315468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11155679" y="4868265"/>
            <a:ext cx="420624" cy="315468"/>
          </a:xfrm>
          <a:prstGeom prst="rect">
            <a:avLst/>
          </a:prstGeom>
          <a:noFill/>
          <a:ln w="7620">
            <a:solidFill>
              <a:srgbClr val="8A97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229600" y="4902555"/>
            <a:ext cx="749808" cy="246888"/>
          </a:xfrm>
          <a:prstGeom prst="roundRect">
            <a:avLst>
              <a:gd name="adj" fmla="val 50000"/>
            </a:avLst>
          </a:prstGeom>
          <a:solidFill>
            <a:srgbClr val="A66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 rtl="1"/>
            <a:r>
              <a:rPr sz="1300" b="0">
                <a:solidFill>
                  <a:srgbClr val="FFFFFF"/>
                </a:solidFill>
                <a:latin typeface="Calibri"/>
                <a:ea typeface="Calibri"/>
                <a:cs typeface="Aduma"/>
              </a:rPr>
              <a:t>מתפתח</a:t>
            </a:r>
          </a:p>
        </p:txBody>
      </p:sp>
      <p:pic>
        <p:nvPicPr>
          <p:cNvPr id="32" name="Picture 31" descr="central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43416" y="4897983"/>
            <a:ext cx="256032" cy="256032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9354312" y="4815687"/>
            <a:ext cx="1746503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 rtl="1"/>
            <a:r>
              <a:rPr sz="2000" b="1">
                <a:solidFill>
                  <a:srgbClr val="0B1220"/>
                </a:solidFill>
                <a:latin typeface="Calibri"/>
                <a:ea typeface="Calibri"/>
                <a:cs typeface="Aduma"/>
              </a:rPr>
              <a:t>זירת מרכז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0" y="5279745"/>
            <a:ext cx="334670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8A97A8"/>
                </a:solidFill>
                <a:latin typeface="Calibri"/>
                <a:ea typeface="Calibri"/>
                <a:cs typeface="Aduma"/>
              </a:rPr>
              <a:t>C · WEST BANK / EAST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0" y="5279745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rtl="1"/>
            <a:r>
              <a:rPr sz="800" b="0">
                <a:solidFill>
                  <a:srgbClr val="8A97A8"/>
                </a:solidFill>
                <a:latin typeface="Calibri"/>
                <a:ea typeface="Calibri"/>
                <a:cs typeface="Aduma"/>
              </a:rPr>
              <a:t>פיקוד מרכז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0" y="5517489"/>
            <a:ext cx="3346703" cy="884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92000"/>
              </a:lnSpc>
            </a:pPr>
            <a:r>
              <a:rPr sz="1250" b="1">
                <a:solidFill>
                  <a:srgbClr val="0B1220"/>
                </a:solidFill>
                <a:latin typeface="Calibri"/>
                <a:ea typeface="Calibri"/>
                <a:cs typeface="Aduma"/>
              </a:rPr>
              <a:t>אלימות פורעים יהודים סביב שכם בעונת המסיק</a:t>
            </a:r>
          </a:p>
          <a:p>
            <a:pPr algn="r" rtl="1">
              <a:lnSpc>
                <a:spcPct val="90000"/>
              </a:lnSpc>
              <a:spcBef>
                <a:spcPts val="400"/>
              </a:spcBef>
            </a:pPr>
            <a:r>
              <a:rPr sz="1100" b="1">
                <a:solidFill>
                  <a:srgbClr val="0B1220"/>
                </a:solidFill>
                <a:latin typeface="Calibri"/>
                <a:ea typeface="Calibri"/>
                <a:cs typeface="Aduma"/>
              </a:rPr>
              <a:t>יהודה ושומרון</a:t>
            </a:r>
          </a:p>
          <a:p>
            <a:pPr algn="r" rtl="1" marL="160654" indent="-160654">
              <a:lnSpc>
                <a:spcPct val="90000"/>
              </a:lnSpc>
              <a:spcBef>
                <a:spcPts val="300"/>
              </a:spcBef>
              <a:buFont typeface="Arial"/>
              <a:buChar char="•"/>
            </a:pPr>
            <a:r>
              <a:rPr sz="1100" b="0">
                <a:solidFill>
                  <a:srgbClr val="3F4C60"/>
                </a:solidFill>
                <a:latin typeface="Calibri"/>
                <a:ea typeface="Calibri"/>
                <a:cs typeface="Aduma"/>
              </a:rPr>
              <a:t>פורעים יהודים תקפו פלסטינים ורכוש בעוצרין שדרום-מזרח לשכם</a:t>
            </a:r>
          </a:p>
          <a:p>
            <a:pPr algn="r" rtl="1" marL="160654" indent="-160654">
              <a:lnSpc>
                <a:spcPct val="90000"/>
              </a:lnSpc>
              <a:spcBef>
                <a:spcPts val="300"/>
              </a:spcBef>
              <a:buFont typeface="Arial"/>
              <a:buChar char="•"/>
            </a:pPr>
            <a:r>
              <a:rPr sz="1100" b="0">
                <a:solidFill>
                  <a:srgbClr val="3F4C60"/>
                </a:solidFill>
                <a:latin typeface="Calibri"/>
                <a:ea typeface="Calibri"/>
                <a:cs typeface="Aduma"/>
              </a:rPr>
              <a:t>פלסטיני בן 50 הוכה באלות במסיק, ושטחים הוצתו צפונית לשכם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11480" y="1024128"/>
            <a:ext cx="3749039" cy="2656789"/>
          </a:xfrm>
          <a:prstGeom prst="roundRect">
            <a:avLst>
              <a:gd name="adj" fmla="val 5000"/>
            </a:avLst>
          </a:prstGeom>
          <a:solidFill>
            <a:srgbClr val="FAFBFD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p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38728" y="1143000"/>
            <a:ext cx="420624" cy="315468"/>
          </a:xfrm>
          <a:prstGeom prst="rect">
            <a:avLst/>
          </a:prstGeom>
        </p:spPr>
      </p:pic>
      <p:sp>
        <p:nvSpPr>
          <p:cNvPr id="39" name="Rectangle 38"/>
          <p:cNvSpPr/>
          <p:nvPr/>
        </p:nvSpPr>
        <p:spPr>
          <a:xfrm>
            <a:off x="3538728" y="1143000"/>
            <a:ext cx="420624" cy="315468"/>
          </a:xfrm>
          <a:prstGeom prst="rect">
            <a:avLst/>
          </a:prstGeom>
          <a:noFill/>
          <a:ln w="7620">
            <a:solidFill>
              <a:srgbClr val="8A97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12648" y="1177289"/>
            <a:ext cx="530352" cy="246888"/>
          </a:xfrm>
          <a:prstGeom prst="roundRect">
            <a:avLst>
              <a:gd name="adj" fmla="val 50000"/>
            </a:avLst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 rtl="1"/>
            <a:r>
              <a:rPr sz="1300" b="0">
                <a:solidFill>
                  <a:srgbClr val="FFFFFF"/>
                </a:solidFill>
                <a:latin typeface="Calibri"/>
                <a:ea typeface="Calibri"/>
                <a:cs typeface="Aduma"/>
              </a:rPr>
              <a:t>חם</a:t>
            </a:r>
          </a:p>
        </p:txBody>
      </p:sp>
      <p:pic>
        <p:nvPicPr>
          <p:cNvPr id="41" name="Picture 40" descr="south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07008" y="1172717"/>
            <a:ext cx="256032" cy="256032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517904" y="1090422"/>
            <a:ext cx="1965960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 rtl="1"/>
            <a:r>
              <a:rPr sz="2000" b="1">
                <a:solidFill>
                  <a:srgbClr val="0B1220"/>
                </a:solidFill>
                <a:latin typeface="Calibri"/>
                <a:ea typeface="Calibri"/>
                <a:cs typeface="Aduma"/>
              </a:rPr>
              <a:t>זירת דרום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2648" y="1554480"/>
            <a:ext cx="334670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8A97A8"/>
                </a:solidFill>
                <a:latin typeface="Calibri"/>
                <a:ea typeface="Calibri"/>
                <a:cs typeface="Aduma"/>
              </a:rPr>
              <a:t>S · GAZA / EGYPT / JORDAN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2648" y="1554480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rtl="1"/>
            <a:r>
              <a:rPr sz="800" b="0">
                <a:solidFill>
                  <a:srgbClr val="8A97A8"/>
                </a:solidFill>
                <a:latin typeface="Calibri"/>
                <a:ea typeface="Calibri"/>
                <a:cs typeface="Aduma"/>
              </a:rPr>
              <a:t>פיקוד דרום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2648" y="1792224"/>
            <a:ext cx="3346703" cy="1815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92000"/>
              </a:lnSpc>
            </a:pPr>
            <a:r>
              <a:rPr sz="1250" b="1">
                <a:solidFill>
                  <a:srgbClr val="0B1220"/>
                </a:solidFill>
                <a:latin typeface="Calibri"/>
                <a:ea typeface="Calibri"/>
                <a:cs typeface="Aduma"/>
              </a:rPr>
              <a:t>ניסיון חיסול המנהיג בפועל של חמאס בעזה</a:t>
            </a:r>
          </a:p>
          <a:p>
            <a:pPr algn="r" rtl="1">
              <a:lnSpc>
                <a:spcPct val="90000"/>
              </a:lnSpc>
              <a:spcBef>
                <a:spcPts val="400"/>
              </a:spcBef>
            </a:pPr>
            <a:r>
              <a:rPr sz="1100" b="1">
                <a:solidFill>
                  <a:srgbClr val="0B1220"/>
                </a:solidFill>
                <a:latin typeface="Calibri"/>
                <a:ea typeface="Calibri"/>
                <a:cs typeface="Aduma"/>
              </a:rPr>
              <a:t>רצועת עזה</a:t>
            </a:r>
          </a:p>
          <a:p>
            <a:pPr algn="r" rtl="1" marL="160654" indent="-160654">
              <a:lnSpc>
                <a:spcPct val="90000"/>
              </a:lnSpc>
              <a:spcBef>
                <a:spcPts val="300"/>
              </a:spcBef>
              <a:buFont typeface="Arial"/>
              <a:buChar char="•"/>
            </a:pPr>
            <a:r>
              <a:rPr sz="1100" b="0">
                <a:solidFill>
                  <a:srgbClr val="3F4C60"/>
                </a:solidFill>
                <a:latin typeface="Calibri"/>
                <a:ea typeface="Calibri"/>
                <a:cs typeface="Aduma"/>
              </a:rPr>
              <a:t>הצבא תקף דירה בעיר עזה כדי לחסל את בכיר חמאס עלי אל-עאמודי</a:t>
            </a:r>
          </a:p>
          <a:p>
            <a:pPr algn="r" rtl="1" marL="160654" indent="-160654">
              <a:lnSpc>
                <a:spcPct val="90000"/>
              </a:lnSpc>
              <a:spcBef>
                <a:spcPts val="300"/>
              </a:spcBef>
              <a:buFont typeface="Arial"/>
              <a:buChar char="•"/>
            </a:pPr>
            <a:r>
              <a:rPr sz="1100" b="0">
                <a:solidFill>
                  <a:srgbClr val="3F4C60"/>
                </a:solidFill>
                <a:latin typeface="Calibri"/>
                <a:ea typeface="Calibri"/>
                <a:cs typeface="Aduma"/>
              </a:rPr>
              <a:t>אל-עאמודי, סגן ראש הלשכה המדינית של חמאס, מנהל בפועל את הרצועה</a:t>
            </a:r>
          </a:p>
          <a:p>
            <a:pPr algn="r" rtl="1" marL="160654" indent="-160654">
              <a:lnSpc>
                <a:spcPct val="90000"/>
              </a:lnSpc>
              <a:spcBef>
                <a:spcPts val="300"/>
              </a:spcBef>
              <a:buFont typeface="Arial"/>
              <a:buChar char="•"/>
            </a:pPr>
            <a:r>
              <a:rPr sz="1100" b="0">
                <a:solidFill>
                  <a:srgbClr val="3F4C60"/>
                </a:solidFill>
                <a:latin typeface="Calibri"/>
                <a:ea typeface="Calibri"/>
                <a:cs typeface="Aduma"/>
              </a:rPr>
              <a:t>מקורות פלסטינים מדווחים על לפחות חמישה הרוגים בבניין שהותקף</a:t>
            </a:r>
          </a:p>
          <a:p>
            <a:pPr algn="r" rtl="1" marL="160654" indent="-160654">
              <a:lnSpc>
                <a:spcPct val="90000"/>
              </a:lnSpc>
              <a:spcBef>
                <a:spcPts val="300"/>
              </a:spcBef>
              <a:buFont typeface="Arial"/>
              <a:buChar char="•"/>
            </a:pPr>
            <a:r>
              <a:rPr sz="1100" b="0">
                <a:solidFill>
                  <a:srgbClr val="3F4C60"/>
                </a:solidFill>
                <a:latin typeface="Calibri"/>
                <a:ea typeface="Calibri"/>
                <a:cs typeface="Aduma"/>
              </a:rPr>
              <a:t>גורלו של אל-עאמודי לא אושר, ולפי גורם ישראלי הסיכוי ששרד נמוך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11480" y="3818077"/>
            <a:ext cx="3749039" cy="2656789"/>
          </a:xfrm>
          <a:prstGeom prst="roundRect">
            <a:avLst>
              <a:gd name="adj" fmla="val 5000"/>
            </a:avLst>
          </a:prstGeom>
          <a:solidFill>
            <a:srgbClr val="FAFBFD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un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538728" y="3936949"/>
            <a:ext cx="420624" cy="315468"/>
          </a:xfrm>
          <a:prstGeom prst="rect">
            <a:avLst/>
          </a:prstGeom>
        </p:spPr>
      </p:pic>
      <p:sp>
        <p:nvSpPr>
          <p:cNvPr id="48" name="Rectangle 47"/>
          <p:cNvSpPr/>
          <p:nvPr/>
        </p:nvSpPr>
        <p:spPr>
          <a:xfrm>
            <a:off x="3538728" y="3936949"/>
            <a:ext cx="420624" cy="315468"/>
          </a:xfrm>
          <a:prstGeom prst="rect">
            <a:avLst/>
          </a:prstGeom>
          <a:noFill/>
          <a:ln w="7620">
            <a:solidFill>
              <a:srgbClr val="8A97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612648" y="3971239"/>
            <a:ext cx="530352" cy="246888"/>
          </a:xfrm>
          <a:prstGeom prst="roundRect">
            <a:avLst>
              <a:gd name="adj" fmla="val 50000"/>
            </a:avLst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 rtl="1"/>
            <a:r>
              <a:rPr sz="1300" b="0">
                <a:solidFill>
                  <a:srgbClr val="FFFFFF"/>
                </a:solidFill>
                <a:latin typeface="Calibri"/>
                <a:ea typeface="Calibri"/>
                <a:cs typeface="Aduma"/>
              </a:rPr>
              <a:t>חם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463040" y="3884371"/>
            <a:ext cx="202082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 rtl="1"/>
            <a:r>
              <a:rPr sz="2000" b="1">
                <a:solidFill>
                  <a:srgbClr val="0B1220"/>
                </a:solidFill>
                <a:latin typeface="Calibri"/>
                <a:ea typeface="Calibri"/>
                <a:cs typeface="Aduma"/>
              </a:rPr>
              <a:t>זירה בינלאומית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12648" y="4348429"/>
            <a:ext cx="334670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8A97A8"/>
                </a:solidFill>
                <a:latin typeface="Calibri"/>
                <a:ea typeface="Calibri"/>
                <a:cs typeface="Aduma"/>
              </a:rPr>
              <a:t>GLOBAL · SECURITY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2648" y="4586173"/>
            <a:ext cx="3346703" cy="1815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92000"/>
              </a:lnSpc>
            </a:pPr>
            <a:r>
              <a:rPr sz="1250" b="1">
                <a:solidFill>
                  <a:srgbClr val="0B1220"/>
                </a:solidFill>
                <a:latin typeface="Calibri"/>
                <a:ea typeface="Calibri"/>
                <a:cs typeface="Aduma"/>
              </a:rPr>
              <a:t>טרור אווירי נגד ישראל ואיום איראני באירופה</a:t>
            </a:r>
          </a:p>
          <a:p>
            <a:pPr algn="r" rtl="1" marL="160654" indent="-160654">
              <a:lnSpc>
                <a:spcPct val="90000"/>
              </a:lnSpc>
              <a:spcBef>
                <a:spcPts val="300"/>
              </a:spcBef>
              <a:buFont typeface="Arial"/>
              <a:buChar char="•"/>
            </a:pPr>
            <a:r>
              <a:rPr sz="1100" b="0">
                <a:solidFill>
                  <a:srgbClr val="3F4C60"/>
                </a:solidFill>
                <a:latin typeface="Calibri"/>
                <a:ea typeface="Calibri"/>
                <a:cs typeface="Aduma"/>
              </a:rPr>
              <a:t>התובע הכללי של האמירויות קבע: ניסיון ריסוק טיסה לישראל היה פעולת טרור</a:t>
            </a:r>
          </a:p>
          <a:p>
            <a:pPr algn="r" rtl="1" marL="160654" indent="-160654">
              <a:lnSpc>
                <a:spcPct val="90000"/>
              </a:lnSpc>
              <a:spcBef>
                <a:spcPts val="300"/>
              </a:spcBef>
              <a:buFont typeface="Arial"/>
              <a:buChar char="•"/>
            </a:pPr>
            <a:r>
              <a:rPr sz="1100" b="0">
                <a:solidFill>
                  <a:srgbClr val="3F4C60"/>
                </a:solidFill>
                <a:latin typeface="Calibri"/>
                <a:ea typeface="Calibri"/>
                <a:cs typeface="Aduma"/>
              </a:rPr>
              <a:t>המפגע, שלפי החשד הוקצן בסוריה, הודה שהתכוון לרסק את המטוס בישראל</a:t>
            </a:r>
          </a:p>
          <a:p>
            <a:pPr algn="r" rtl="1" marL="160654" indent="-160654">
              <a:lnSpc>
                <a:spcPct val="90000"/>
              </a:lnSpc>
              <a:spcBef>
                <a:spcPts val="300"/>
              </a:spcBef>
              <a:buFont typeface="Arial"/>
              <a:buChar char="•"/>
            </a:pPr>
            <a:r>
              <a:rPr sz="1100" b="0">
                <a:solidFill>
                  <a:srgbClr val="3F4C60"/>
                </a:solidFill>
                <a:latin typeface="Calibri"/>
                <a:ea typeface="Calibri"/>
                <a:cs typeface="Aduma"/>
              </a:rPr>
              <a:t>ישראל הזהירה את גרמניה מפגיעה בהכוונת איראן בבסיסים אמריקניים בשטחה</a:t>
            </a:r>
          </a:p>
          <a:p>
            <a:pPr algn="r" rtl="1" marL="160654" indent="-160654">
              <a:lnSpc>
                <a:spcPct val="90000"/>
              </a:lnSpc>
              <a:spcBef>
                <a:spcPts val="300"/>
              </a:spcBef>
              <a:buFont typeface="Arial"/>
              <a:buChar char="•"/>
            </a:pPr>
            <a:r>
              <a:rPr sz="1100" b="0">
                <a:solidFill>
                  <a:srgbClr val="3F4C60"/>
                </a:solidFill>
                <a:latin typeface="Calibri"/>
                <a:ea typeface="Calibri"/>
                <a:cs typeface="Aduma"/>
              </a:rPr>
              <a:t>הבולשת הפדרלית עצרה בארצות הברית חשוד שניסה לרכוש לחות׳ים רכיבי רחפנים</a:t>
            </a:r>
          </a:p>
        </p:txBody>
      </p:sp>
      <p:cxnSp>
        <p:nvCxnSpPr>
          <p:cNvPr id="53" name="Connector 52"/>
          <p:cNvCxnSpPr/>
          <p:nvPr/>
        </p:nvCxnSpPr>
        <p:spPr>
          <a:xfrm flipH="1">
            <a:off x="7882127" y="3749497"/>
            <a:ext cx="146304" cy="0"/>
          </a:xfrm>
          <a:prstGeom prst="line">
            <a:avLst/>
          </a:prstGeom>
          <a:ln w="25400">
            <a:solidFill>
              <a:srgbClr val="0B5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 flipV="1">
            <a:off x="6484297" y="1370352"/>
            <a:ext cx="1397830" cy="2379145"/>
          </a:xfrm>
          <a:prstGeom prst="line">
            <a:avLst/>
          </a:prstGeom>
          <a:ln w="19050">
            <a:solidFill>
              <a:srgbClr val="0B5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/>
          <p:cNvSpPr/>
          <p:nvPr/>
        </p:nvSpPr>
        <p:spPr>
          <a:xfrm>
            <a:off x="7987283" y="3708349"/>
            <a:ext cx="82296" cy="82296"/>
          </a:xfrm>
          <a:prstGeom prst="ellipse">
            <a:avLst/>
          </a:prstGeom>
          <a:solidFill>
            <a:srgbClr val="0B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H="1">
            <a:off x="7882127" y="5612130"/>
            <a:ext cx="146304" cy="0"/>
          </a:xfrm>
          <a:prstGeom prst="line">
            <a:avLst/>
          </a:prstGeom>
          <a:ln w="25400">
            <a:solidFill>
              <a:srgbClr val="A663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 flipV="1">
            <a:off x="6134145" y="2729602"/>
            <a:ext cx="1747982" cy="2882528"/>
          </a:xfrm>
          <a:prstGeom prst="line">
            <a:avLst/>
          </a:prstGeom>
          <a:ln w="19050">
            <a:solidFill>
              <a:srgbClr val="A663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7987283" y="5570982"/>
            <a:ext cx="82296" cy="82296"/>
          </a:xfrm>
          <a:prstGeom prst="ellipse">
            <a:avLst/>
          </a:prstGeom>
          <a:solidFill>
            <a:srgbClr val="A66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4160520" y="2352522"/>
            <a:ext cx="146304" cy="0"/>
          </a:xfrm>
          <a:prstGeom prst="line">
            <a:avLst/>
          </a:prstGeom>
          <a:ln w="25400">
            <a:solidFill>
              <a:srgbClr val="C41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4306824" y="2352522"/>
            <a:ext cx="940998" cy="1274698"/>
          </a:xfrm>
          <a:prstGeom prst="line">
            <a:avLst/>
          </a:prstGeom>
          <a:ln w="19050">
            <a:solidFill>
              <a:srgbClr val="C41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4119372" y="2311374"/>
            <a:ext cx="82296" cy="82296"/>
          </a:xfrm>
          <a:prstGeom prst="ellipse">
            <a:avLst/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11480" y="6547104"/>
            <a:ext cx="11368735" cy="10972"/>
          </a:xfrm>
          <a:prstGeom prst="rect">
            <a:avLst/>
          </a:prstGeom>
          <a:solidFill>
            <a:srgbClr val="C6C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11480" y="6611112"/>
            <a:ext cx="4206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8A97A8"/>
                </a:solidFill>
                <a:latin typeface="Calibri"/>
                <a:ea typeface="Calibri"/>
                <a:cs typeface="Aduma"/>
              </a:rPr>
              <a:t>SECTORS 03   ·   SHEET 1/1   ·   SCALE BAR 50 KM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