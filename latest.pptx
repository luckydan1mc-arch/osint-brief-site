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נבנה אוטומטית בענן (model)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Relationship Id="rId6" Type="http://schemas.openxmlformats.org/officeDocument/2006/relationships/image" Target="../media/image5.png"/><Relationship Id="rId7" Type="http://schemas.openxmlformats.org/officeDocument/2006/relationships/image" Target="../media/image6.png"/><Relationship Id="rId8" Type="http://schemas.openxmlformats.org/officeDocument/2006/relationships/image" Target="../media/image7.png"/><Relationship Id="rId9" Type="http://schemas.openxmlformats.org/officeDocument/2006/relationships/image" Target="../media/image8.png"/><Relationship Id="rId10" Type="http://schemas.openxmlformats.org/officeDocument/2006/relationships/image" Target="../media/image9.png"/><Relationship Id="rId11" Type="http://schemas.openxmlformats.org/officeDocument/2006/relationships/image" Target="../media/image10.png"/><Relationship Id="rId12" Type="http://schemas.openxmlformats.org/officeDocument/2006/relationships/image" Target="../media/image11.png"/><Relationship Id="rId13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DEF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Parallelogram 2"/>
          <p:cNvSpPr/>
          <p:nvPr/>
        </p:nvSpPr>
        <p:spPr>
          <a:xfrm>
            <a:off x="2011680" y="0"/>
            <a:ext cx="2377440" cy="6858000"/>
          </a:xfrm>
          <a:prstGeom prst="parallelogram">
            <a:avLst/>
          </a:prstGeom>
          <a:solidFill>
            <a:srgbClr val="FFFFFF">
              <a:alpha val="5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Parallelogram 3"/>
          <p:cNvSpPr/>
          <p:nvPr/>
        </p:nvSpPr>
        <p:spPr>
          <a:xfrm>
            <a:off x="6949440" y="0"/>
            <a:ext cx="2011680" cy="6858000"/>
          </a:xfrm>
          <a:prstGeom prst="parallelogram">
            <a:avLst/>
          </a:prstGeom>
          <a:solidFill>
            <a:srgbClr val="FFFFFF">
              <a:alpha val="5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Parallelogram 4"/>
          <p:cNvSpPr/>
          <p:nvPr/>
        </p:nvSpPr>
        <p:spPr>
          <a:xfrm>
            <a:off x="9692640" y="0"/>
            <a:ext cx="1280160" cy="6858000"/>
          </a:xfrm>
          <a:prstGeom prst="parallelogram">
            <a:avLst/>
          </a:prstGeom>
          <a:solidFill>
            <a:srgbClr val="FFFFFF">
              <a:alpha val="5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ma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36574" y="1024128"/>
            <a:ext cx="3118545" cy="5449824"/>
          </a:xfrm>
          <a:prstGeom prst="rect">
            <a:avLst/>
          </a:prstGeom>
        </p:spPr>
      </p:pic>
      <p:sp>
        <p:nvSpPr>
          <p:cNvPr id="7" name="Snip Single Corner Rectangle 6"/>
          <p:cNvSpPr/>
          <p:nvPr/>
        </p:nvSpPr>
        <p:spPr>
          <a:xfrm rot="10800000">
            <a:off x="411480" y="128016"/>
            <a:ext cx="11368735" cy="768096"/>
          </a:xfrm>
          <a:prstGeom prst="snip1Rect">
            <a:avLst>
              <a:gd name="adj" fmla="val 22000"/>
            </a:avLst>
          </a:prstGeom>
          <a:solidFill>
            <a:srgbClr val="FFFFFF"/>
          </a:solidFill>
          <a:ln w="9525">
            <a:solidFill>
              <a:srgbClr val="DCE1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852428" y="210312"/>
            <a:ext cx="726618" cy="603504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5219724" y="164592"/>
            <a:ext cx="5486400" cy="6949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 rtl="1">
              <a:lnSpc>
                <a:spcPct val="90000"/>
              </a:lnSpc>
            </a:pPr>
            <a:r>
              <a:rPr sz="2800" b="1">
                <a:solidFill>
                  <a:srgbClr val="0E1621"/>
                </a:solidFill>
                <a:latin typeface="Calibri"/>
                <a:ea typeface="Calibri"/>
                <a:cs typeface="Aduma"/>
              </a:rPr>
              <a:t>תמונת מצב מבצעית</a:t>
            </a:r>
          </a:p>
          <a:p>
            <a:pPr algn="r" rtl="1">
              <a:spcBef>
                <a:spcPts val="100"/>
              </a:spcBef>
            </a:pPr>
            <a:r>
              <a:rPr sz="1300" b="0">
                <a:solidFill>
                  <a:srgbClr val="465263"/>
                </a:solidFill>
                <a:latin typeface="Calibri"/>
                <a:ea typeface="Calibri"/>
                <a:cs typeface="Aduma"/>
              </a:rPr>
              <a:t>סוכן אוסינט · ענף מבצעים חמ״ץ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201168"/>
            <a:ext cx="4206240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 rtl="1"/>
            <a:r>
              <a:rPr sz="2000" b="1">
                <a:solidFill>
                  <a:srgbClr val="1C2A3D"/>
                </a:solidFill>
                <a:latin typeface="Calibri"/>
                <a:ea typeface="Calibri"/>
                <a:cs typeface="Aduma"/>
              </a:rPr>
              <a:t>24 באוקטובר 2026</a:t>
            </a:r>
            <a:r>
              <a:rPr sz="2000" b="1">
                <a:solidFill>
                  <a:srgbClr val="C41E3A"/>
                </a:solidFill>
                <a:latin typeface="Calibri"/>
                <a:ea typeface="Calibri"/>
                <a:cs typeface="Aduma"/>
              </a:rPr>
              <a:t>  |  </a:t>
            </a:r>
            <a:r>
              <a:rPr sz="2000" b="1">
                <a:solidFill>
                  <a:srgbClr val="1C2A3D"/>
                </a:solidFill>
                <a:latin typeface="Calibri"/>
                <a:ea typeface="Calibri"/>
                <a:cs typeface="Aduma"/>
              </a:rPr>
              <a:t>19:49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621792"/>
            <a:ext cx="420624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8A95A4"/>
                </a:solidFill>
                <a:latin typeface="Calibri"/>
                <a:ea typeface="Calibri"/>
                <a:cs typeface="Aduma"/>
              </a:rPr>
              <a:t>DTG 241949OCT26   ·   WGS84 / GEOGRAPHIC</a:t>
            </a:r>
          </a:p>
        </p:txBody>
      </p:sp>
      <p:sp>
        <p:nvSpPr>
          <p:cNvPr id="12" name="Snip Single Corner Rectangle 11"/>
          <p:cNvSpPr/>
          <p:nvPr/>
        </p:nvSpPr>
        <p:spPr>
          <a:xfrm>
            <a:off x="8028431" y="1024128"/>
            <a:ext cx="3749039" cy="1725472"/>
          </a:xfrm>
          <a:prstGeom prst="snip1Rect">
            <a:avLst>
              <a:gd name="adj" fmla="val 10598"/>
            </a:avLst>
          </a:prstGeom>
          <a:solidFill>
            <a:srgbClr val="FFFFFF"/>
          </a:solidFill>
          <a:ln w="9525">
            <a:solidFill>
              <a:srgbClr val="DCE1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8037575" y="1074420"/>
            <a:ext cx="3557015" cy="676656"/>
          </a:xfrm>
          <a:prstGeom prst="rect">
            <a:avLst/>
          </a:prstGeom>
          <a:solidFill>
            <a:srgbClr val="F7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Parallelogram 13"/>
          <p:cNvSpPr/>
          <p:nvPr/>
        </p:nvSpPr>
        <p:spPr>
          <a:xfrm>
            <a:off x="9153144" y="1074420"/>
            <a:ext cx="502920" cy="676656"/>
          </a:xfrm>
          <a:prstGeom prst="parallelogram">
            <a:avLst/>
          </a:prstGeom>
          <a:solidFill>
            <a:srgbClr val="F1F3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8028431" y="1024128"/>
            <a:ext cx="3566159" cy="50292"/>
          </a:xfrm>
          <a:prstGeom prst="rect">
            <a:avLst/>
          </a:prstGeom>
          <a:solidFill>
            <a:srgbClr val="C810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037575" y="1751076"/>
            <a:ext cx="3730752" cy="10972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7" name="Picture 16" descr="homefron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064239" y="1156716"/>
            <a:ext cx="512064" cy="512064"/>
          </a:xfrm>
          <a:prstGeom prst="rect">
            <a:avLst/>
          </a:prstGeom>
        </p:spPr>
      </p:pic>
      <p:sp>
        <p:nvSpPr>
          <p:cNvPr id="18" name="Parallelogram 17"/>
          <p:cNvSpPr/>
          <p:nvPr/>
        </p:nvSpPr>
        <p:spPr>
          <a:xfrm>
            <a:off x="8229600" y="1165860"/>
            <a:ext cx="566928" cy="228600"/>
          </a:xfrm>
          <a:prstGeom prst="parallelogram">
            <a:avLst>
              <a:gd name="adj" fmla="val 25000"/>
            </a:avLst>
          </a:prstGeom>
          <a:solidFill>
            <a:srgbClr val="C810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 rtl="1"/>
            <a:r>
              <a:rPr sz="1300" b="1">
                <a:solidFill>
                  <a:srgbClr val="FFFFFF"/>
                </a:solidFill>
                <a:latin typeface="Calibri"/>
                <a:ea typeface="Calibri"/>
                <a:cs typeface="Aduma"/>
              </a:rPr>
              <a:t>חם</a:t>
            </a:r>
          </a:p>
        </p:txBody>
      </p:sp>
      <p:pic>
        <p:nvPicPr>
          <p:cNvPr id="19" name="Picture 18" descr="ir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229600" y="1467612"/>
            <a:ext cx="310896" cy="228600"/>
          </a:xfrm>
          <a:prstGeom prst="rect">
            <a:avLst/>
          </a:prstGeom>
        </p:spPr>
      </p:pic>
      <p:sp>
        <p:nvSpPr>
          <p:cNvPr id="20" name="Rectangle 19"/>
          <p:cNvSpPr/>
          <p:nvPr/>
        </p:nvSpPr>
        <p:spPr>
          <a:xfrm>
            <a:off x="8229600" y="1467612"/>
            <a:ext cx="310896" cy="228600"/>
          </a:xfrm>
          <a:prstGeom prst="rect">
            <a:avLst/>
          </a:prstGeom>
          <a:noFill/>
          <a:ln w="6350">
            <a:solidFill>
              <a:srgbClr val="DCE1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887967" y="1115568"/>
            <a:ext cx="2084831" cy="14630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/>
            <a:r>
              <a:rPr sz="700" b="0">
                <a:solidFill>
                  <a:srgbClr val="8A95A4"/>
                </a:solidFill>
                <a:latin typeface="Calibri"/>
                <a:ea typeface="Calibri"/>
                <a:cs typeface="Aduma"/>
              </a:rPr>
              <a:t>I R A N  ·  I R A Q  ·  Y E M E 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887967" y="1252728"/>
            <a:ext cx="2084831" cy="329184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r" rtl="1"/>
            <a:r>
              <a:rPr sz="2200" b="1">
                <a:solidFill>
                  <a:srgbClr val="0E1621"/>
                </a:solidFill>
                <a:latin typeface="Calibri"/>
                <a:ea typeface="Calibri"/>
                <a:cs typeface="Aduma"/>
              </a:rPr>
              <a:t>זירת איראן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887967" y="1572768"/>
            <a:ext cx="2084831" cy="1554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 rtl="1"/>
            <a:r>
              <a:rPr sz="850" b="0">
                <a:solidFill>
                  <a:srgbClr val="465263"/>
                </a:solidFill>
                <a:latin typeface="Calibri"/>
                <a:ea typeface="Calibri"/>
                <a:cs typeface="Aduma"/>
              </a:rPr>
              <a:t>פיקוד העורף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229600" y="1833372"/>
            <a:ext cx="3346703" cy="8430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 rtl="1">
              <a:lnSpc>
                <a:spcPct val="92000"/>
              </a:lnSpc>
            </a:pPr>
            <a:r>
              <a:rPr sz="1250" b="1">
                <a:solidFill>
                  <a:srgbClr val="0E1621"/>
                </a:solidFill>
                <a:latin typeface="Calibri"/>
                <a:ea typeface="Calibri"/>
                <a:cs typeface="Aduma"/>
              </a:rPr>
              <a:t>איום איראני על אמריקנים והכנות לתקיפה באיראן</a:t>
            </a:r>
          </a:p>
          <a:p>
            <a:pPr algn="r" rtl="1">
              <a:lnSpc>
                <a:spcPct val="90000"/>
              </a:lnSpc>
              <a:spcBef>
                <a:spcPts val="400"/>
              </a:spcBef>
            </a:pPr>
            <a:r>
              <a:rPr sz="900">
                <a:solidFill>
                  <a:srgbClr val="C8102E"/>
                </a:solidFill>
                <a:latin typeface="Calibri"/>
                <a:ea typeface="Calibri"/>
                <a:cs typeface="Aduma"/>
              </a:rPr>
              <a:t>■  </a:t>
            </a:r>
            <a:r>
              <a:rPr sz="1150" b="1">
                <a:solidFill>
                  <a:srgbClr val="0E1621"/>
                </a:solidFill>
                <a:latin typeface="Calibri"/>
                <a:ea typeface="Calibri"/>
                <a:cs typeface="Aduma"/>
              </a:rPr>
              <a:t>איראן</a:t>
            </a:r>
          </a:p>
          <a:p>
            <a:pPr algn="r" rtl="1" marL="160654" indent="-160654">
              <a:lnSpc>
                <a:spcPct val="90000"/>
              </a:lnSpc>
              <a:spcBef>
                <a:spcPts val="300"/>
              </a:spcBef>
              <a:buClr>
                <a:srgbClr val="C8102E"/>
              </a:buClr>
              <a:buSzPct val="75000"/>
              <a:buFont typeface="Arial"/>
              <a:buChar char="◆"/>
            </a:pPr>
            <a:r>
              <a:rPr sz="1100" b="0">
                <a:solidFill>
                  <a:srgbClr val="465263"/>
                </a:solidFill>
                <a:latin typeface="Calibri"/>
                <a:ea typeface="Calibri"/>
                <a:cs typeface="Aduma"/>
              </a:rPr>
              <a:t>ארצות הברית מפנה סגל מהאזור: תוכנית איראנית לפגוע באנשיה מתקדמת</a:t>
            </a:r>
          </a:p>
        </p:txBody>
      </p:sp>
      <p:sp>
        <p:nvSpPr>
          <p:cNvPr id="25" name="Snip Single Corner Rectangle 24"/>
          <p:cNvSpPr/>
          <p:nvPr/>
        </p:nvSpPr>
        <p:spPr>
          <a:xfrm>
            <a:off x="8028431" y="2886760"/>
            <a:ext cx="3749039" cy="1725472"/>
          </a:xfrm>
          <a:prstGeom prst="snip1Rect">
            <a:avLst>
              <a:gd name="adj" fmla="val 10598"/>
            </a:avLst>
          </a:prstGeom>
          <a:solidFill>
            <a:srgbClr val="FFFFFF"/>
          </a:solidFill>
          <a:ln w="9525">
            <a:solidFill>
              <a:srgbClr val="DCE1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8037575" y="2937052"/>
            <a:ext cx="3557015" cy="676656"/>
          </a:xfrm>
          <a:prstGeom prst="rect">
            <a:avLst/>
          </a:prstGeom>
          <a:solidFill>
            <a:srgbClr val="F7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Parallelogram 26"/>
          <p:cNvSpPr/>
          <p:nvPr/>
        </p:nvSpPr>
        <p:spPr>
          <a:xfrm>
            <a:off x="9153144" y="2937052"/>
            <a:ext cx="502920" cy="676656"/>
          </a:xfrm>
          <a:prstGeom prst="parallelogram">
            <a:avLst/>
          </a:prstGeom>
          <a:solidFill>
            <a:srgbClr val="F1F3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8028431" y="2886760"/>
            <a:ext cx="3566159" cy="50292"/>
          </a:xfrm>
          <a:prstGeom prst="rect">
            <a:avLst/>
          </a:prstGeom>
          <a:solidFill>
            <a:srgbClr val="1F5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8037575" y="3613708"/>
            <a:ext cx="3730752" cy="10972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0" name="Picture 29" descr="north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1064239" y="3019348"/>
            <a:ext cx="512064" cy="512064"/>
          </a:xfrm>
          <a:prstGeom prst="rect">
            <a:avLst/>
          </a:prstGeom>
        </p:spPr>
      </p:pic>
      <p:sp>
        <p:nvSpPr>
          <p:cNvPr id="31" name="Parallelogram 30"/>
          <p:cNvSpPr/>
          <p:nvPr/>
        </p:nvSpPr>
        <p:spPr>
          <a:xfrm>
            <a:off x="8229600" y="3028492"/>
            <a:ext cx="731520" cy="228600"/>
          </a:xfrm>
          <a:prstGeom prst="parallelogram">
            <a:avLst>
              <a:gd name="adj" fmla="val 25000"/>
            </a:avLst>
          </a:prstGeom>
          <a:solidFill>
            <a:srgbClr val="1F5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 rtl="1"/>
            <a:r>
              <a:rPr sz="1300" b="1">
                <a:solidFill>
                  <a:srgbClr val="FFFFFF"/>
                </a:solidFill>
                <a:latin typeface="Calibri"/>
                <a:ea typeface="Calibri"/>
                <a:cs typeface="Aduma"/>
              </a:rPr>
              <a:t>מעקב</a:t>
            </a:r>
          </a:p>
        </p:txBody>
      </p:sp>
      <p:pic>
        <p:nvPicPr>
          <p:cNvPr id="32" name="Picture 31" descr="sy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229600" y="3330244"/>
            <a:ext cx="310896" cy="228600"/>
          </a:xfrm>
          <a:prstGeom prst="rect">
            <a:avLst/>
          </a:prstGeom>
        </p:spPr>
      </p:pic>
      <p:sp>
        <p:nvSpPr>
          <p:cNvPr id="33" name="Rectangle 32"/>
          <p:cNvSpPr/>
          <p:nvPr/>
        </p:nvSpPr>
        <p:spPr>
          <a:xfrm>
            <a:off x="8229600" y="3330244"/>
            <a:ext cx="310896" cy="228600"/>
          </a:xfrm>
          <a:prstGeom prst="rect">
            <a:avLst/>
          </a:prstGeom>
          <a:noFill/>
          <a:ln w="6350">
            <a:solidFill>
              <a:srgbClr val="DCE1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4" name="Picture 33" descr="lb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586216" y="3330244"/>
            <a:ext cx="310896" cy="228600"/>
          </a:xfrm>
          <a:prstGeom prst="rect">
            <a:avLst/>
          </a:prstGeom>
        </p:spPr>
      </p:pic>
      <p:sp>
        <p:nvSpPr>
          <p:cNvPr id="35" name="Rectangle 34"/>
          <p:cNvSpPr/>
          <p:nvPr/>
        </p:nvSpPr>
        <p:spPr>
          <a:xfrm>
            <a:off x="8586216" y="3330244"/>
            <a:ext cx="310896" cy="228600"/>
          </a:xfrm>
          <a:prstGeom prst="rect">
            <a:avLst/>
          </a:prstGeom>
          <a:noFill/>
          <a:ln w="6350">
            <a:solidFill>
              <a:srgbClr val="DCE1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9052560" y="2978200"/>
            <a:ext cx="1920239" cy="14630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/>
            <a:r>
              <a:rPr sz="700" b="0">
                <a:solidFill>
                  <a:srgbClr val="8A95A4"/>
                </a:solidFill>
                <a:latin typeface="Calibri"/>
                <a:ea typeface="Calibri"/>
                <a:cs typeface="Aduma"/>
              </a:rPr>
              <a:t>L E B A N O N  ·  S Y R I A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052560" y="3115360"/>
            <a:ext cx="1920239" cy="329184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r" rtl="1"/>
            <a:r>
              <a:rPr sz="2200" b="1">
                <a:solidFill>
                  <a:srgbClr val="0E1621"/>
                </a:solidFill>
                <a:latin typeface="Calibri"/>
                <a:ea typeface="Calibri"/>
                <a:cs typeface="Aduma"/>
              </a:rPr>
              <a:t>זירת צפון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052560" y="3435400"/>
            <a:ext cx="1920239" cy="1554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 rtl="1"/>
            <a:r>
              <a:rPr sz="850" b="0">
                <a:solidFill>
                  <a:srgbClr val="465263"/>
                </a:solidFill>
                <a:latin typeface="Calibri"/>
                <a:ea typeface="Calibri"/>
                <a:cs typeface="Aduma"/>
              </a:rPr>
              <a:t>פיקוד צפון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229600" y="3696004"/>
            <a:ext cx="3346703" cy="8430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 rtl="1">
              <a:lnSpc>
                <a:spcPct val="92000"/>
              </a:lnSpc>
            </a:pPr>
            <a:r>
              <a:rPr sz="1250" b="1">
                <a:solidFill>
                  <a:srgbClr val="0E1621"/>
                </a:solidFill>
                <a:latin typeface="Calibri"/>
                <a:ea typeface="Calibri"/>
                <a:cs typeface="Aduma"/>
              </a:rPr>
              <a:t>צמצום נוכחות אמריקנית בלבנון מחשש איראני</a:t>
            </a:r>
          </a:p>
          <a:p>
            <a:pPr algn="r" rtl="1">
              <a:lnSpc>
                <a:spcPct val="82000"/>
              </a:lnSpc>
              <a:spcBef>
                <a:spcPts val="300"/>
              </a:spcBef>
            </a:pPr>
            <a:r>
              <a:rPr sz="900">
                <a:solidFill>
                  <a:srgbClr val="1F5FA8"/>
                </a:solidFill>
                <a:latin typeface="Calibri"/>
                <a:ea typeface="Calibri"/>
                <a:cs typeface="Aduma"/>
              </a:rPr>
              <a:t>■  </a:t>
            </a:r>
            <a:r>
              <a:rPr sz="1150" b="1">
                <a:solidFill>
                  <a:srgbClr val="0E1621"/>
                </a:solidFill>
                <a:latin typeface="Calibri"/>
                <a:ea typeface="Calibri"/>
                <a:cs typeface="Aduma"/>
              </a:rPr>
              <a:t>לבנון</a:t>
            </a:r>
          </a:p>
          <a:p>
            <a:pPr algn="r" rtl="1" marL="160654" indent="-160654">
              <a:lnSpc>
                <a:spcPct val="82000"/>
              </a:lnSpc>
              <a:spcBef>
                <a:spcPts val="100"/>
              </a:spcBef>
              <a:buClr>
                <a:srgbClr val="1F5FA8"/>
              </a:buClr>
              <a:buSzPct val="75000"/>
              <a:buFont typeface="Arial"/>
              <a:buChar char="◆"/>
            </a:pPr>
            <a:r>
              <a:rPr sz="1100" b="0">
                <a:solidFill>
                  <a:srgbClr val="465263"/>
                </a:solidFill>
                <a:latin typeface="Calibri"/>
                <a:ea typeface="Calibri"/>
                <a:cs typeface="Aduma"/>
              </a:rPr>
              <a:t>שגרירות ארצות הברית בביירות צמצמה סגל בגלל האיום האיראני</a:t>
            </a:r>
          </a:p>
          <a:p>
            <a:pPr algn="r" rtl="1">
              <a:lnSpc>
                <a:spcPct val="82000"/>
              </a:lnSpc>
              <a:spcBef>
                <a:spcPts val="300"/>
              </a:spcBef>
            </a:pPr>
            <a:r>
              <a:rPr sz="900">
                <a:solidFill>
                  <a:srgbClr val="1F5FA8"/>
                </a:solidFill>
                <a:latin typeface="Calibri"/>
                <a:ea typeface="Calibri"/>
                <a:cs typeface="Aduma"/>
              </a:rPr>
              <a:t>■  </a:t>
            </a:r>
            <a:r>
              <a:rPr sz="1150" b="1">
                <a:solidFill>
                  <a:srgbClr val="0E1621"/>
                </a:solidFill>
                <a:latin typeface="Calibri"/>
                <a:ea typeface="Calibri"/>
                <a:cs typeface="Aduma"/>
              </a:rPr>
              <a:t>סוריה</a:t>
            </a:r>
          </a:p>
          <a:p>
            <a:pPr algn="r" rtl="1" marL="160654" indent="-160654">
              <a:lnSpc>
                <a:spcPct val="82000"/>
              </a:lnSpc>
              <a:spcBef>
                <a:spcPts val="100"/>
              </a:spcBef>
              <a:buClr>
                <a:srgbClr val="1F5FA8"/>
              </a:buClr>
              <a:buSzPct val="75000"/>
              <a:buFont typeface="Arial"/>
              <a:buChar char="◆"/>
            </a:pPr>
            <a:r>
              <a:rPr sz="1100" b="0">
                <a:solidFill>
                  <a:srgbClr val="465263"/>
                </a:solidFill>
                <a:latin typeface="Calibri"/>
                <a:ea typeface="Calibri"/>
                <a:cs typeface="Aduma"/>
              </a:rPr>
              <a:t>פיצוץ במחסן בצפון-מערב סוריה הרג לפחות 4 בני אדם</a:t>
            </a:r>
          </a:p>
        </p:txBody>
      </p:sp>
      <p:sp>
        <p:nvSpPr>
          <p:cNvPr id="40" name="Snip Single Corner Rectangle 39"/>
          <p:cNvSpPr/>
          <p:nvPr/>
        </p:nvSpPr>
        <p:spPr>
          <a:xfrm>
            <a:off x="8028431" y="4749393"/>
            <a:ext cx="3749039" cy="1725472"/>
          </a:xfrm>
          <a:prstGeom prst="snip1Rect">
            <a:avLst>
              <a:gd name="adj" fmla="val 10598"/>
            </a:avLst>
          </a:prstGeom>
          <a:solidFill>
            <a:srgbClr val="FFFFFF"/>
          </a:solidFill>
          <a:ln w="9525">
            <a:solidFill>
              <a:srgbClr val="DCE1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8037575" y="4799685"/>
            <a:ext cx="3557015" cy="676656"/>
          </a:xfrm>
          <a:prstGeom prst="rect">
            <a:avLst/>
          </a:prstGeom>
          <a:solidFill>
            <a:srgbClr val="F7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Parallelogram 41"/>
          <p:cNvSpPr/>
          <p:nvPr/>
        </p:nvSpPr>
        <p:spPr>
          <a:xfrm>
            <a:off x="9153144" y="4799685"/>
            <a:ext cx="502920" cy="676656"/>
          </a:xfrm>
          <a:prstGeom prst="parallelogram">
            <a:avLst/>
          </a:prstGeom>
          <a:solidFill>
            <a:srgbClr val="F1F3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8028431" y="4749393"/>
            <a:ext cx="3566159" cy="50292"/>
          </a:xfrm>
          <a:prstGeom prst="rect">
            <a:avLst/>
          </a:prstGeom>
          <a:solidFill>
            <a:srgbClr val="C810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8037575" y="5476341"/>
            <a:ext cx="3730752" cy="10972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5" name="Picture 44" descr="central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1064239" y="4881981"/>
            <a:ext cx="512064" cy="512064"/>
          </a:xfrm>
          <a:prstGeom prst="rect">
            <a:avLst/>
          </a:prstGeom>
        </p:spPr>
      </p:pic>
      <p:sp>
        <p:nvSpPr>
          <p:cNvPr id="46" name="Parallelogram 45"/>
          <p:cNvSpPr/>
          <p:nvPr/>
        </p:nvSpPr>
        <p:spPr>
          <a:xfrm>
            <a:off x="8229600" y="4891125"/>
            <a:ext cx="566928" cy="228600"/>
          </a:xfrm>
          <a:prstGeom prst="parallelogram">
            <a:avLst>
              <a:gd name="adj" fmla="val 25000"/>
            </a:avLst>
          </a:prstGeom>
          <a:solidFill>
            <a:srgbClr val="C810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 rtl="1"/>
            <a:r>
              <a:rPr sz="1300" b="1">
                <a:solidFill>
                  <a:srgbClr val="FFFFFF"/>
                </a:solidFill>
                <a:latin typeface="Calibri"/>
                <a:ea typeface="Calibri"/>
                <a:cs typeface="Aduma"/>
              </a:rPr>
              <a:t>חם</a:t>
            </a:r>
          </a:p>
        </p:txBody>
      </p:sp>
      <p:pic>
        <p:nvPicPr>
          <p:cNvPr id="47" name="Picture 46" descr="ps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8229600" y="5192877"/>
            <a:ext cx="310896" cy="228600"/>
          </a:xfrm>
          <a:prstGeom prst="rect">
            <a:avLst/>
          </a:prstGeom>
        </p:spPr>
      </p:pic>
      <p:sp>
        <p:nvSpPr>
          <p:cNvPr id="48" name="Rectangle 47"/>
          <p:cNvSpPr/>
          <p:nvPr/>
        </p:nvSpPr>
        <p:spPr>
          <a:xfrm>
            <a:off x="8229600" y="5192877"/>
            <a:ext cx="310896" cy="228600"/>
          </a:xfrm>
          <a:prstGeom prst="rect">
            <a:avLst/>
          </a:prstGeom>
          <a:noFill/>
          <a:ln w="6350">
            <a:solidFill>
              <a:srgbClr val="DCE1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8887967" y="4840833"/>
            <a:ext cx="2084831" cy="14630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/>
            <a:r>
              <a:rPr sz="700" b="0">
                <a:solidFill>
                  <a:srgbClr val="8A95A4"/>
                </a:solidFill>
                <a:latin typeface="Calibri"/>
                <a:ea typeface="Calibri"/>
                <a:cs typeface="Aduma"/>
              </a:rPr>
              <a:t>J U D E A  &amp;  S A M A R I A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8887967" y="4977993"/>
            <a:ext cx="2084831" cy="329184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r" rtl="1"/>
            <a:r>
              <a:rPr sz="2200" b="1">
                <a:solidFill>
                  <a:srgbClr val="0E1621"/>
                </a:solidFill>
                <a:latin typeface="Calibri"/>
                <a:ea typeface="Calibri"/>
                <a:cs typeface="Aduma"/>
              </a:rPr>
              <a:t>זירת מרכז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8887967" y="5298033"/>
            <a:ext cx="2084831" cy="1554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 rtl="1"/>
            <a:r>
              <a:rPr sz="850" b="0">
                <a:solidFill>
                  <a:srgbClr val="465263"/>
                </a:solidFill>
                <a:latin typeface="Calibri"/>
                <a:ea typeface="Calibri"/>
                <a:cs typeface="Aduma"/>
              </a:rPr>
              <a:t>פיקוד מרכז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8229600" y="5558637"/>
            <a:ext cx="3346703" cy="8430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 rtl="1">
              <a:lnSpc>
                <a:spcPct val="92000"/>
              </a:lnSpc>
            </a:pPr>
            <a:r>
              <a:rPr sz="1250" b="1">
                <a:solidFill>
                  <a:srgbClr val="0E1621"/>
                </a:solidFill>
                <a:latin typeface="Calibri"/>
                <a:ea typeface="Calibri"/>
                <a:cs typeface="Aduma"/>
              </a:rPr>
              <a:t>מבצע נמשך בחברון: מעצרים והריסת מבנים</a:t>
            </a:r>
          </a:p>
          <a:p>
            <a:pPr algn="r" rtl="1">
              <a:lnSpc>
                <a:spcPct val="90000"/>
              </a:lnSpc>
              <a:spcBef>
                <a:spcPts val="400"/>
              </a:spcBef>
            </a:pPr>
            <a:r>
              <a:rPr sz="900">
                <a:solidFill>
                  <a:srgbClr val="C8102E"/>
                </a:solidFill>
                <a:latin typeface="Calibri"/>
                <a:ea typeface="Calibri"/>
                <a:cs typeface="Aduma"/>
              </a:rPr>
              <a:t>■  </a:t>
            </a:r>
            <a:r>
              <a:rPr sz="1150" b="1">
                <a:solidFill>
                  <a:srgbClr val="0E1621"/>
                </a:solidFill>
                <a:latin typeface="Calibri"/>
                <a:ea typeface="Calibri"/>
                <a:cs typeface="Aduma"/>
              </a:rPr>
              <a:t>יהודה ושומרון</a:t>
            </a:r>
          </a:p>
          <a:p>
            <a:pPr algn="r" rtl="1" marL="160654" indent="-160654">
              <a:lnSpc>
                <a:spcPct val="90000"/>
              </a:lnSpc>
              <a:spcBef>
                <a:spcPts val="300"/>
              </a:spcBef>
              <a:buClr>
                <a:srgbClr val="C8102E"/>
              </a:buClr>
              <a:buSzPct val="75000"/>
              <a:buFont typeface="Arial"/>
              <a:buChar char="◆"/>
            </a:pPr>
            <a:r>
              <a:rPr sz="1100" b="0">
                <a:solidFill>
                  <a:srgbClr val="465263"/>
                </a:solidFill>
                <a:latin typeface="Calibri"/>
                <a:ea typeface="Calibri"/>
                <a:cs typeface="Aduma"/>
              </a:rPr>
              <a:t>הצבא פתח במבצע בחברון, ממנה יצאו מחבלי חמאס שהרגו 2 לוחמים</a:t>
            </a:r>
          </a:p>
          <a:p>
            <a:pPr algn="r" rtl="1" marL="160654" indent="-160654">
              <a:lnSpc>
                <a:spcPct val="90000"/>
              </a:lnSpc>
              <a:spcBef>
                <a:spcPts val="300"/>
              </a:spcBef>
              <a:buClr>
                <a:srgbClr val="C8102E"/>
              </a:buClr>
              <a:buSzPct val="75000"/>
              <a:buFont typeface="Arial"/>
              <a:buChar char="◆"/>
            </a:pPr>
            <a:r>
              <a:rPr sz="1100" b="0">
                <a:solidFill>
                  <a:srgbClr val="465263"/>
                </a:solidFill>
                <a:latin typeface="Calibri"/>
                <a:ea typeface="Calibri"/>
                <a:cs typeface="Aduma"/>
              </a:rPr>
              <a:t>10 חשודים נעצרו במבצע בחברון, ומאות משפחות פלסטיניות עזבו את בתיהן</a:t>
            </a:r>
          </a:p>
        </p:txBody>
      </p:sp>
      <p:sp>
        <p:nvSpPr>
          <p:cNvPr id="53" name="Snip Single Corner Rectangle 52"/>
          <p:cNvSpPr/>
          <p:nvPr/>
        </p:nvSpPr>
        <p:spPr>
          <a:xfrm>
            <a:off x="411480" y="1024128"/>
            <a:ext cx="3749039" cy="2656789"/>
          </a:xfrm>
          <a:prstGeom prst="snip1Rect">
            <a:avLst>
              <a:gd name="adj" fmla="val 6883"/>
            </a:avLst>
          </a:prstGeom>
          <a:solidFill>
            <a:srgbClr val="FFFFFF"/>
          </a:solidFill>
          <a:ln w="9525">
            <a:solidFill>
              <a:srgbClr val="DCE1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Rectangle 53"/>
          <p:cNvSpPr/>
          <p:nvPr/>
        </p:nvSpPr>
        <p:spPr>
          <a:xfrm>
            <a:off x="420624" y="1074420"/>
            <a:ext cx="3557015" cy="676656"/>
          </a:xfrm>
          <a:prstGeom prst="rect">
            <a:avLst/>
          </a:prstGeom>
          <a:solidFill>
            <a:srgbClr val="F7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Parallelogram 54"/>
          <p:cNvSpPr/>
          <p:nvPr/>
        </p:nvSpPr>
        <p:spPr>
          <a:xfrm>
            <a:off x="1536191" y="1074420"/>
            <a:ext cx="502920" cy="676656"/>
          </a:xfrm>
          <a:prstGeom prst="parallelogram">
            <a:avLst/>
          </a:prstGeom>
          <a:solidFill>
            <a:srgbClr val="F1F3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411480" y="1024128"/>
            <a:ext cx="3566159" cy="50292"/>
          </a:xfrm>
          <a:prstGeom prst="rect">
            <a:avLst/>
          </a:prstGeom>
          <a:solidFill>
            <a:srgbClr val="C96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Rectangle 56"/>
          <p:cNvSpPr/>
          <p:nvPr/>
        </p:nvSpPr>
        <p:spPr>
          <a:xfrm>
            <a:off x="420624" y="1751076"/>
            <a:ext cx="3730752" cy="10972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8" name="Picture 57" descr="south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3447288" y="1156716"/>
            <a:ext cx="512064" cy="512064"/>
          </a:xfrm>
          <a:prstGeom prst="rect">
            <a:avLst/>
          </a:prstGeom>
        </p:spPr>
      </p:pic>
      <p:sp>
        <p:nvSpPr>
          <p:cNvPr id="59" name="Parallelogram 58"/>
          <p:cNvSpPr/>
          <p:nvPr/>
        </p:nvSpPr>
        <p:spPr>
          <a:xfrm>
            <a:off x="612648" y="1165860"/>
            <a:ext cx="786384" cy="228600"/>
          </a:xfrm>
          <a:prstGeom prst="parallelogram">
            <a:avLst>
              <a:gd name="adj" fmla="val 25000"/>
            </a:avLst>
          </a:prstGeom>
          <a:solidFill>
            <a:srgbClr val="C96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 rtl="1"/>
            <a:r>
              <a:rPr sz="1300" b="1">
                <a:solidFill>
                  <a:srgbClr val="FFFFFF"/>
                </a:solidFill>
                <a:latin typeface="Calibri"/>
                <a:ea typeface="Calibri"/>
                <a:cs typeface="Aduma"/>
              </a:rPr>
              <a:t>מתפתח</a:t>
            </a:r>
          </a:p>
        </p:txBody>
      </p:sp>
      <p:pic>
        <p:nvPicPr>
          <p:cNvPr id="60" name="Picture 59" descr="ps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612648" y="1467612"/>
            <a:ext cx="310896" cy="228600"/>
          </a:xfrm>
          <a:prstGeom prst="rect">
            <a:avLst/>
          </a:prstGeom>
        </p:spPr>
      </p:pic>
      <p:sp>
        <p:nvSpPr>
          <p:cNvPr id="61" name="Rectangle 60"/>
          <p:cNvSpPr/>
          <p:nvPr/>
        </p:nvSpPr>
        <p:spPr>
          <a:xfrm>
            <a:off x="612648" y="1467612"/>
            <a:ext cx="310896" cy="228600"/>
          </a:xfrm>
          <a:prstGeom prst="rect">
            <a:avLst/>
          </a:prstGeom>
          <a:noFill/>
          <a:ln w="6350">
            <a:solidFill>
              <a:srgbClr val="DCE1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1490472" y="1115568"/>
            <a:ext cx="1865376" cy="14630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/>
            <a:r>
              <a:rPr sz="700" b="0">
                <a:solidFill>
                  <a:srgbClr val="8A95A4"/>
                </a:solidFill>
                <a:latin typeface="Calibri"/>
                <a:ea typeface="Calibri"/>
                <a:cs typeface="Aduma"/>
              </a:rPr>
              <a:t>G A Z A   S T R I P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490472" y="1252728"/>
            <a:ext cx="1865376" cy="329184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r" rtl="1"/>
            <a:r>
              <a:rPr sz="2200" b="1">
                <a:solidFill>
                  <a:srgbClr val="0E1621"/>
                </a:solidFill>
                <a:latin typeface="Calibri"/>
                <a:ea typeface="Calibri"/>
                <a:cs typeface="Aduma"/>
              </a:rPr>
              <a:t>זירת דרום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1490472" y="1572768"/>
            <a:ext cx="1865376" cy="1554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 rtl="1"/>
            <a:r>
              <a:rPr sz="850" b="0">
                <a:solidFill>
                  <a:srgbClr val="465263"/>
                </a:solidFill>
                <a:latin typeface="Calibri"/>
                <a:ea typeface="Calibri"/>
                <a:cs typeface="Aduma"/>
              </a:rPr>
              <a:t>פיקוד דרום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612648" y="1833372"/>
            <a:ext cx="3346703" cy="177439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 rtl="1">
              <a:lnSpc>
                <a:spcPct val="92000"/>
              </a:lnSpc>
            </a:pPr>
            <a:r>
              <a:rPr sz="1250" b="1">
                <a:solidFill>
                  <a:srgbClr val="0E1621"/>
                </a:solidFill>
                <a:latin typeface="Calibri"/>
                <a:ea typeface="Calibri"/>
                <a:cs typeface="Aduma"/>
              </a:rPr>
              <a:t>ירדן מאיימת בתגובה קשה לפיגוע בכנסייה בכרכ</a:t>
            </a:r>
          </a:p>
          <a:p>
            <a:pPr algn="r" rtl="1">
              <a:lnSpc>
                <a:spcPct val="90000"/>
              </a:lnSpc>
              <a:spcBef>
                <a:spcPts val="400"/>
              </a:spcBef>
            </a:pPr>
            <a:r>
              <a:rPr sz="900">
                <a:solidFill>
                  <a:srgbClr val="C96A00"/>
                </a:solidFill>
                <a:latin typeface="Calibri"/>
                <a:ea typeface="Calibri"/>
                <a:cs typeface="Aduma"/>
              </a:rPr>
              <a:t>■  </a:t>
            </a:r>
            <a:r>
              <a:rPr sz="1150" b="1">
                <a:solidFill>
                  <a:srgbClr val="0E1621"/>
                </a:solidFill>
                <a:latin typeface="Calibri"/>
                <a:ea typeface="Calibri"/>
                <a:cs typeface="Aduma"/>
              </a:rPr>
              <a:t>ירדן</a:t>
            </a:r>
          </a:p>
          <a:p>
            <a:pPr algn="r" rtl="1" marL="160654" indent="-160654">
              <a:lnSpc>
                <a:spcPct val="90000"/>
              </a:lnSpc>
              <a:spcBef>
                <a:spcPts val="300"/>
              </a:spcBef>
              <a:buClr>
                <a:srgbClr val="C96A00"/>
              </a:buClr>
              <a:buSzPct val="75000"/>
              <a:buFont typeface="Arial"/>
              <a:buChar char="◆"/>
            </a:pPr>
            <a:r>
              <a:rPr sz="1100" b="0">
                <a:solidFill>
                  <a:srgbClr val="465263"/>
                </a:solidFill>
                <a:latin typeface="Calibri"/>
                <a:ea typeface="Calibri"/>
                <a:cs typeface="Aduma"/>
              </a:rPr>
              <a:t>שגרירות ארצות הברית הגבירה אבטחה אחרי פיגוע בכנסייה בכרכ</a:t>
            </a:r>
          </a:p>
          <a:p>
            <a:pPr algn="r" rtl="1" marL="160654" indent="-160654">
              <a:lnSpc>
                <a:spcPct val="90000"/>
              </a:lnSpc>
              <a:spcBef>
                <a:spcPts val="300"/>
              </a:spcBef>
              <a:buClr>
                <a:srgbClr val="C96A00"/>
              </a:buClr>
              <a:buSzPct val="75000"/>
              <a:buFont typeface="Arial"/>
              <a:buChar char="◆"/>
            </a:pPr>
            <a:r>
              <a:rPr sz="1100" b="0">
                <a:solidFill>
                  <a:srgbClr val="465263"/>
                </a:solidFill>
                <a:latin typeface="Calibri"/>
                <a:ea typeface="Calibri"/>
                <a:cs typeface="Aduma"/>
              </a:rPr>
              <a:t>המלך עבדאללה השני הבטיח תגובה קשה ביותר לפיגוע בכנסייה</a:t>
            </a:r>
          </a:p>
        </p:txBody>
      </p:sp>
      <p:sp>
        <p:nvSpPr>
          <p:cNvPr id="66" name="Snip Single Corner Rectangle 65"/>
          <p:cNvSpPr/>
          <p:nvPr/>
        </p:nvSpPr>
        <p:spPr>
          <a:xfrm>
            <a:off x="411480" y="3818077"/>
            <a:ext cx="3749039" cy="2656789"/>
          </a:xfrm>
          <a:prstGeom prst="snip1Rect">
            <a:avLst>
              <a:gd name="adj" fmla="val 6883"/>
            </a:avLst>
          </a:prstGeom>
          <a:solidFill>
            <a:srgbClr val="FFFFFF"/>
          </a:solidFill>
          <a:ln w="9525">
            <a:solidFill>
              <a:srgbClr val="DCE1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Rectangle 66"/>
          <p:cNvSpPr/>
          <p:nvPr/>
        </p:nvSpPr>
        <p:spPr>
          <a:xfrm>
            <a:off x="420624" y="3868369"/>
            <a:ext cx="3557015" cy="676656"/>
          </a:xfrm>
          <a:prstGeom prst="rect">
            <a:avLst/>
          </a:prstGeom>
          <a:solidFill>
            <a:srgbClr val="F7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Parallelogram 67"/>
          <p:cNvSpPr/>
          <p:nvPr/>
        </p:nvSpPr>
        <p:spPr>
          <a:xfrm>
            <a:off x="1536191" y="3868369"/>
            <a:ext cx="502920" cy="676656"/>
          </a:xfrm>
          <a:prstGeom prst="parallelogram">
            <a:avLst/>
          </a:prstGeom>
          <a:solidFill>
            <a:srgbClr val="F1F3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Rectangle 68"/>
          <p:cNvSpPr/>
          <p:nvPr/>
        </p:nvSpPr>
        <p:spPr>
          <a:xfrm>
            <a:off x="411480" y="3818077"/>
            <a:ext cx="3566159" cy="50292"/>
          </a:xfrm>
          <a:prstGeom prst="rect">
            <a:avLst/>
          </a:prstGeom>
          <a:solidFill>
            <a:srgbClr val="C96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Rectangle 69"/>
          <p:cNvSpPr/>
          <p:nvPr/>
        </p:nvSpPr>
        <p:spPr>
          <a:xfrm>
            <a:off x="420624" y="4545025"/>
            <a:ext cx="3730752" cy="10972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Oval 70"/>
          <p:cNvSpPr/>
          <p:nvPr/>
        </p:nvSpPr>
        <p:spPr>
          <a:xfrm>
            <a:off x="3447288" y="3950665"/>
            <a:ext cx="512064" cy="512064"/>
          </a:xfrm>
          <a:prstGeom prst="ellipse">
            <a:avLst/>
          </a:prstGeom>
          <a:solidFill>
            <a:srgbClr val="0E16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Oval 71"/>
          <p:cNvSpPr/>
          <p:nvPr/>
        </p:nvSpPr>
        <p:spPr>
          <a:xfrm>
            <a:off x="3529218" y="4032595"/>
            <a:ext cx="348203" cy="348203"/>
          </a:xfrm>
          <a:prstGeom prst="ellipse">
            <a:avLst/>
          </a:prstGeom>
          <a:noFill/>
          <a:ln w="1397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Oval 72"/>
          <p:cNvSpPr/>
          <p:nvPr/>
        </p:nvSpPr>
        <p:spPr>
          <a:xfrm>
            <a:off x="3631631" y="4032595"/>
            <a:ext cx="143377" cy="348203"/>
          </a:xfrm>
          <a:prstGeom prst="ellipse">
            <a:avLst/>
          </a:prstGeom>
          <a:noFill/>
          <a:ln w="1397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4" name="Connector 73"/>
          <p:cNvCxnSpPr/>
          <p:nvPr/>
        </p:nvCxnSpPr>
        <p:spPr>
          <a:xfrm>
            <a:off x="3529218" y="4206697"/>
            <a:ext cx="348203" cy="0"/>
          </a:xfrm>
          <a:prstGeom prst="line">
            <a:avLst/>
          </a:prstGeom>
          <a:ln w="12700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5" name="Connector 74"/>
          <p:cNvCxnSpPr/>
          <p:nvPr/>
        </p:nvCxnSpPr>
        <p:spPr>
          <a:xfrm>
            <a:off x="3565062" y="4119646"/>
            <a:ext cx="276515" cy="0"/>
          </a:xfrm>
          <a:prstGeom prst="line">
            <a:avLst/>
          </a:prstGeom>
          <a:ln w="12700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6" name="Connector 75"/>
          <p:cNvCxnSpPr/>
          <p:nvPr/>
        </p:nvCxnSpPr>
        <p:spPr>
          <a:xfrm>
            <a:off x="3565062" y="4293748"/>
            <a:ext cx="276515" cy="0"/>
          </a:xfrm>
          <a:prstGeom prst="line">
            <a:avLst/>
          </a:prstGeom>
          <a:ln w="12700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7" name="Parallelogram 76"/>
          <p:cNvSpPr/>
          <p:nvPr/>
        </p:nvSpPr>
        <p:spPr>
          <a:xfrm>
            <a:off x="612648" y="3959809"/>
            <a:ext cx="786384" cy="228600"/>
          </a:xfrm>
          <a:prstGeom prst="parallelogram">
            <a:avLst>
              <a:gd name="adj" fmla="val 25000"/>
            </a:avLst>
          </a:prstGeom>
          <a:solidFill>
            <a:srgbClr val="C96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 rtl="1"/>
            <a:r>
              <a:rPr sz="1300" b="1">
                <a:solidFill>
                  <a:srgbClr val="FFFFFF"/>
                </a:solidFill>
                <a:latin typeface="Calibri"/>
                <a:ea typeface="Calibri"/>
                <a:cs typeface="Aduma"/>
              </a:rPr>
              <a:t>מתפתח</a:t>
            </a:r>
          </a:p>
        </p:txBody>
      </p:sp>
      <p:pic>
        <p:nvPicPr>
          <p:cNvPr id="78" name="Picture 77" descr="un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612648" y="4261561"/>
            <a:ext cx="310896" cy="228600"/>
          </a:xfrm>
          <a:prstGeom prst="rect">
            <a:avLst/>
          </a:prstGeom>
        </p:spPr>
      </p:pic>
      <p:sp>
        <p:nvSpPr>
          <p:cNvPr id="79" name="Rectangle 78"/>
          <p:cNvSpPr/>
          <p:nvPr/>
        </p:nvSpPr>
        <p:spPr>
          <a:xfrm>
            <a:off x="612648" y="4261561"/>
            <a:ext cx="310896" cy="228600"/>
          </a:xfrm>
          <a:prstGeom prst="rect">
            <a:avLst/>
          </a:prstGeom>
          <a:noFill/>
          <a:ln w="6350">
            <a:solidFill>
              <a:srgbClr val="DCE1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TextBox 79"/>
          <p:cNvSpPr txBox="1"/>
          <p:nvPr/>
        </p:nvSpPr>
        <p:spPr>
          <a:xfrm>
            <a:off x="1490472" y="3909517"/>
            <a:ext cx="1865376" cy="14630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/>
            <a:r>
              <a:rPr sz="700" b="0">
                <a:solidFill>
                  <a:srgbClr val="8A95A4"/>
                </a:solidFill>
                <a:latin typeface="Calibri"/>
                <a:ea typeface="Calibri"/>
                <a:cs typeface="Aduma"/>
              </a:rPr>
              <a:t>I N T E R N A T I O N A L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1490472" y="4046677"/>
            <a:ext cx="1865376" cy="329184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r" rtl="1"/>
            <a:r>
              <a:rPr sz="2200" b="1">
                <a:solidFill>
                  <a:srgbClr val="0E1621"/>
                </a:solidFill>
                <a:latin typeface="Calibri"/>
                <a:ea typeface="Calibri"/>
                <a:cs typeface="Aduma"/>
              </a:rPr>
              <a:t>זירה בינלאומית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612648" y="4627321"/>
            <a:ext cx="3346703" cy="177439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 rtl="1">
              <a:lnSpc>
                <a:spcPct val="92000"/>
              </a:lnSpc>
            </a:pPr>
            <a:r>
              <a:rPr sz="1250" b="1">
                <a:solidFill>
                  <a:srgbClr val="0E1621"/>
                </a:solidFill>
                <a:latin typeface="Calibri"/>
                <a:ea typeface="Calibri"/>
                <a:cs typeface="Aduma"/>
              </a:rPr>
              <a:t>חשד לדליפת מידע על ישראל מהביון האמריקני</a:t>
            </a:r>
          </a:p>
          <a:p>
            <a:pPr algn="r" rtl="1" marL="160654" indent="-160654">
              <a:lnSpc>
                <a:spcPct val="90000"/>
              </a:lnSpc>
              <a:spcBef>
                <a:spcPts val="300"/>
              </a:spcBef>
              <a:buClr>
                <a:srgbClr val="C96A00"/>
              </a:buClr>
              <a:buSzPct val="75000"/>
              <a:buFont typeface="Arial"/>
              <a:buChar char="◆"/>
            </a:pPr>
            <a:r>
              <a:rPr sz="1100" b="0">
                <a:solidFill>
                  <a:srgbClr val="465263"/>
                </a:solidFill>
                <a:latin typeface="Calibri"/>
                <a:ea typeface="Calibri"/>
                <a:cs typeface="Aduma"/>
              </a:rPr>
              <a:t>עובד קבלן של סוכנות הביון האמריקנית חשוד שהדליף מידע על ישראל</a:t>
            </a:r>
          </a:p>
          <a:p>
            <a:pPr algn="r" rtl="1" marL="160654" indent="-160654">
              <a:lnSpc>
                <a:spcPct val="90000"/>
              </a:lnSpc>
              <a:spcBef>
                <a:spcPts val="300"/>
              </a:spcBef>
              <a:buClr>
                <a:srgbClr val="C96A00"/>
              </a:buClr>
              <a:buSzPct val="75000"/>
              <a:buFont typeface="Arial"/>
              <a:buChar char="◆"/>
            </a:pPr>
            <a:r>
              <a:rPr sz="1100" b="0">
                <a:solidFill>
                  <a:srgbClr val="465263"/>
                </a:solidFill>
                <a:latin typeface="Calibri"/>
                <a:ea typeface="Calibri"/>
                <a:cs typeface="Aduma"/>
              </a:rPr>
              <a:t>איטליה הציבה מאות חיילים במילאנו לקראת הפגנות נגד יוקר המחיה</a:t>
            </a:r>
          </a:p>
          <a:p>
            <a:pPr algn="r" rtl="1" marL="160654" indent="-160654">
              <a:lnSpc>
                <a:spcPct val="90000"/>
              </a:lnSpc>
              <a:spcBef>
                <a:spcPts val="300"/>
              </a:spcBef>
              <a:buClr>
                <a:srgbClr val="C96A00"/>
              </a:buClr>
              <a:buSzPct val="75000"/>
              <a:buFont typeface="Arial"/>
              <a:buChar char="◆"/>
            </a:pPr>
            <a:r>
              <a:rPr sz="1100" b="0">
                <a:solidFill>
                  <a:srgbClr val="465263"/>
                </a:solidFill>
                <a:latin typeface="Calibri"/>
                <a:ea typeface="Calibri"/>
                <a:cs typeface="Aduma"/>
              </a:rPr>
              <a:t>מלניה טראמפ תיווכה בהפסקת אש מקומית בין רוסיה לאוקראינה בחרסון</a:t>
            </a:r>
          </a:p>
        </p:txBody>
      </p:sp>
      <p:cxnSp>
        <p:nvCxnSpPr>
          <p:cNvPr id="83" name="Connector 82"/>
          <p:cNvCxnSpPr/>
          <p:nvPr/>
        </p:nvCxnSpPr>
        <p:spPr>
          <a:xfrm flipH="1">
            <a:off x="7882127" y="3749497"/>
            <a:ext cx="146304" cy="0"/>
          </a:xfrm>
          <a:prstGeom prst="line">
            <a:avLst/>
          </a:prstGeom>
          <a:ln w="25400">
            <a:solidFill>
              <a:srgbClr val="1F5FA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4" name="Connector 83"/>
          <p:cNvCxnSpPr/>
          <p:nvPr/>
        </p:nvCxnSpPr>
        <p:spPr>
          <a:xfrm flipH="1" flipV="1">
            <a:off x="6484297" y="1370352"/>
            <a:ext cx="1397830" cy="2379145"/>
          </a:xfrm>
          <a:prstGeom prst="line">
            <a:avLst/>
          </a:prstGeom>
          <a:ln w="19050">
            <a:solidFill>
              <a:srgbClr val="1F5FA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5" name="Oval 84"/>
          <p:cNvSpPr/>
          <p:nvPr/>
        </p:nvSpPr>
        <p:spPr>
          <a:xfrm>
            <a:off x="7987283" y="3708349"/>
            <a:ext cx="82296" cy="82296"/>
          </a:xfrm>
          <a:prstGeom prst="ellipse">
            <a:avLst/>
          </a:prstGeom>
          <a:solidFill>
            <a:srgbClr val="1F5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86" name="Connector 85"/>
          <p:cNvCxnSpPr/>
          <p:nvPr/>
        </p:nvCxnSpPr>
        <p:spPr>
          <a:xfrm flipH="1">
            <a:off x="7882127" y="5612130"/>
            <a:ext cx="146304" cy="0"/>
          </a:xfrm>
          <a:prstGeom prst="line">
            <a:avLst/>
          </a:prstGeom>
          <a:ln w="25400">
            <a:solidFill>
              <a:srgbClr val="C8102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7" name="Connector 86"/>
          <p:cNvCxnSpPr/>
          <p:nvPr/>
        </p:nvCxnSpPr>
        <p:spPr>
          <a:xfrm flipH="1" flipV="1">
            <a:off x="5959069" y="3614397"/>
            <a:ext cx="1923058" cy="1997733"/>
          </a:xfrm>
          <a:prstGeom prst="line">
            <a:avLst/>
          </a:prstGeom>
          <a:ln w="19050">
            <a:solidFill>
              <a:srgbClr val="C8102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8" name="Oval 87"/>
          <p:cNvSpPr/>
          <p:nvPr/>
        </p:nvSpPr>
        <p:spPr>
          <a:xfrm>
            <a:off x="7987283" y="5570982"/>
            <a:ext cx="82296" cy="82296"/>
          </a:xfrm>
          <a:prstGeom prst="ellipse">
            <a:avLst/>
          </a:prstGeom>
          <a:solidFill>
            <a:srgbClr val="C810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89" name="Connector 88"/>
          <p:cNvCxnSpPr/>
          <p:nvPr/>
        </p:nvCxnSpPr>
        <p:spPr>
          <a:xfrm>
            <a:off x="4160520" y="2352522"/>
            <a:ext cx="146304" cy="0"/>
          </a:xfrm>
          <a:prstGeom prst="line">
            <a:avLst/>
          </a:prstGeom>
          <a:ln w="25400">
            <a:solidFill>
              <a:srgbClr val="C96A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0" name="Connector 89"/>
          <p:cNvCxnSpPr/>
          <p:nvPr/>
        </p:nvCxnSpPr>
        <p:spPr>
          <a:xfrm>
            <a:off x="4306824" y="2352522"/>
            <a:ext cx="886286" cy="1402929"/>
          </a:xfrm>
          <a:prstGeom prst="line">
            <a:avLst/>
          </a:prstGeom>
          <a:ln w="19050">
            <a:solidFill>
              <a:srgbClr val="C96A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1" name="Oval 90"/>
          <p:cNvSpPr/>
          <p:nvPr/>
        </p:nvSpPr>
        <p:spPr>
          <a:xfrm>
            <a:off x="4119372" y="2311374"/>
            <a:ext cx="82296" cy="82296"/>
          </a:xfrm>
          <a:prstGeom prst="ellipse">
            <a:avLst/>
          </a:prstGeom>
          <a:solidFill>
            <a:srgbClr val="C96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Rectangle 91"/>
          <p:cNvSpPr/>
          <p:nvPr/>
        </p:nvSpPr>
        <p:spPr>
          <a:xfrm>
            <a:off x="411480" y="6547104"/>
            <a:ext cx="11368735" cy="10972"/>
          </a:xfrm>
          <a:prstGeom prst="rect">
            <a:avLst/>
          </a:prstGeom>
          <a:solidFill>
            <a:srgbClr val="C6CF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TextBox 92"/>
          <p:cNvSpPr txBox="1"/>
          <p:nvPr/>
        </p:nvSpPr>
        <p:spPr>
          <a:xfrm>
            <a:off x="411480" y="6611112"/>
            <a:ext cx="420624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8A97A8"/>
                </a:solidFill>
                <a:latin typeface="Calibri"/>
                <a:ea typeface="Calibri"/>
                <a:cs typeface="Aduma"/>
              </a:rPr>
              <a:t>SECTORS 03   ·   SHEET 1/1   ·   SCALE BAR 50 KM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